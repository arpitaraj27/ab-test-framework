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0ba6f29-d76c-abfb-5474-cad5accb5cfc}">
          <p14:sldIdLst>
            <p14:sldId id="256"/>
            <p14:sldId id="257"/>
          </p14:sldIdLst>
        </p14:section>
        <p14:section name="Results" id="{1bfcc038-bc53-2d7c-1fc3-83d17d42ebae}">
          <p14:sldIdLst>
            <p14:sldId id="258"/>
            <p14:sldId id="259"/>
            <p14:sldId id="260"/>
          </p14:sldIdLst>
        </p14:section>
        <p14:section name="Deep dive" id="{b6a730f6-84d9-0f3a-b4b3-0cc575fc0300}">
          <p14:sldIdLst>
            <p14:sldId id="261"/>
            <p14:sldId id="262"/>
            <p14:sldId id="263"/>
            <p14:sldId id="264"/>
          </p14:sldIdLst>
        </p14:section>
        <p14:section name="Recommendation" id="{d14800db-e12a-36f6-139a-089a9111d11d}">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5% true lift</c:v>
                </c:pt>
              </c:strCache>
            </c:strRef>
          </c:tx>
          <c:spPr>
            <a:solidFill>
              <a:srgbClr val="9AA5A0"/>
            </a:solidFill>
            <a:ln w="25400" cap="flat">
              <a:solidFill>
                <a:srgbClr val="9AA5A0"/>
              </a:solidFill>
              <a:prstDash val="solid"/>
              <a:round/>
            </a:ln>
            <a:effectLst/>
          </c:spPr>
          <c:invertIfNegative val="0"/>
          <c:dLbls>
            <c:numFmt formatCode="#,##0" sourceLinked="0"/>
            <c:txPr>
              <a:bodyPr/>
              <a:lstStyle/>
              <a:p>
                <a:pPr>
                  <a:defRPr b="0" i="0" strike="noStrike" sz="1300" u="none">
                    <a:solidFill>
                      <a:srgbClr val="1F2A24"/>
                    </a:solidFill>
                    <a:latin typeface="+mn-lt"/>
                  </a:defRPr>
                </a:pPr>
              </a:p>
            </c:txPr>
            <c:showLegendKey val="0"/>
            <c:showVal val="0"/>
            <c:showCatName val="0"/>
            <c:showSerName val="0"/>
            <c:showPercent val="0"/>
            <c:showBubbleSize val="0"/>
            <c:showLeaderLines val="0"/>
          </c:dLbls>
          <c:marker>
            <c:symbol val="none"/>
            <c:size val="6"/>
            <c:spPr>
              <a:solidFill>
                <a:srgbClr val="9AA5A0"/>
              </a:solidFill>
              <a:ln w="9525" cap="flat">
                <a:solidFill>
                  <a:srgbClr val="9AA5A0"/>
                </a:solidFill>
                <a:prstDash val="solid"/>
                <a:round/>
              </a:ln>
              <a:effectLst/>
            </c:spPr>
          </c:marker>
          <c:cat>
            <c:multiLvlStrRef>
              <c:f>Sheet1!$A$2:$A$13</c:f>
              <c:multiLvlStrCache>
                <c:ptCount val="12"/>
                <c:lvl>
                  <c:pt idx="0">
                    <c:v>5k</c:v>
                  </c:pt>
                  <c:pt idx="1">
                    <c:v>10k</c:v>
                  </c:pt>
                  <c:pt idx="2">
                    <c:v>15k</c:v>
                  </c:pt>
                  <c:pt idx="3">
                    <c:v>20k</c:v>
                  </c:pt>
                  <c:pt idx="4">
                    <c:v>25k</c:v>
                  </c:pt>
                  <c:pt idx="5">
                    <c:v>30k</c:v>
                  </c:pt>
                  <c:pt idx="6">
                    <c:v>35k</c:v>
                  </c:pt>
                  <c:pt idx="7">
                    <c:v>40k</c:v>
                  </c:pt>
                  <c:pt idx="8">
                    <c:v>45k</c:v>
                  </c:pt>
                  <c:pt idx="9">
                    <c:v>50k</c:v>
                  </c:pt>
                  <c:pt idx="10">
                    <c:v>55k</c:v>
                  </c:pt>
                  <c:pt idx="11">
                    <c:v>60k</c:v>
                  </c:pt>
                </c:lvl>
              </c:multiLvlStrCache>
            </c:multiLvlStrRef>
          </c:cat>
          <c:val>
            <c:numRef>
              <c:f>Sheet1!$B$2:$B$13</c:f>
              <c:numCache>
                <c:formatCode>General</c:formatCode>
                <c:ptCount val="12"/>
                <c:pt idx="0">
                  <c:v>8.6</c:v>
                </c:pt>
                <c:pt idx="1">
                  <c:v>12.4</c:v>
                </c:pt>
                <c:pt idx="2">
                  <c:v>16.2</c:v>
                </c:pt>
                <c:pt idx="3">
                  <c:v>20.1</c:v>
                </c:pt>
                <c:pt idx="4">
                  <c:v>23.9</c:v>
                </c:pt>
                <c:pt idx="5">
                  <c:v>27.8</c:v>
                </c:pt>
                <c:pt idx="6">
                  <c:v>31.5</c:v>
                </c:pt>
                <c:pt idx="7">
                  <c:v>35.2</c:v>
                </c:pt>
                <c:pt idx="8">
                  <c:v>38.9</c:v>
                </c:pt>
                <c:pt idx="9">
                  <c:v>42.4</c:v>
                </c:pt>
                <c:pt idx="10">
                  <c:v>45.8</c:v>
                </c:pt>
                <c:pt idx="11">
                  <c:v>49</c:v>
                </c:pt>
              </c:numCache>
            </c:numRef>
          </c:val>
          <c:smooth val="0"/>
        </c:ser>
        <c:ser>
          <c:idx val="1"/>
          <c:order val="1"/>
          <c:tx>
            <c:strRef>
              <c:f>Sheet1!$C$1</c:f>
              <c:strCache>
                <c:ptCount val="1"/>
                <c:pt idx="0">
                  <c:v>10% true lift</c:v>
                </c:pt>
              </c:strCache>
            </c:strRef>
          </c:tx>
          <c:spPr>
            <a:solidFill>
              <a:srgbClr val="E4572E"/>
            </a:solidFill>
            <a:ln w="25400" cap="flat">
              <a:solidFill>
                <a:srgbClr val="E4572E"/>
              </a:solidFill>
              <a:prstDash val="solid"/>
              <a:round/>
            </a:ln>
            <a:effectLst/>
          </c:spPr>
          <c:invertIfNegative val="0"/>
          <c:dLbls>
            <c:numFmt formatCode="#,##0" sourceLinked="0"/>
            <c:txPr>
              <a:bodyPr/>
              <a:lstStyle/>
              <a:p>
                <a:pPr>
                  <a:defRPr b="0" i="0" strike="noStrike" sz="1300" u="none">
                    <a:solidFill>
                      <a:srgbClr val="1F2A24"/>
                    </a:solidFill>
                    <a:latin typeface="+mn-lt"/>
                  </a:defRPr>
                </a:pPr>
              </a:p>
            </c:txPr>
            <c:showLegendKey val="0"/>
            <c:showVal val="0"/>
            <c:showCatName val="0"/>
            <c:showSerName val="0"/>
            <c:showPercent val="0"/>
            <c:showBubbleSize val="0"/>
            <c:showLeaderLines val="0"/>
          </c:dLbls>
          <c:marker>
            <c:symbol val="none"/>
            <c:size val="6"/>
            <c:spPr>
              <a:solidFill>
                <a:srgbClr val="E4572E"/>
              </a:solidFill>
              <a:ln w="9525" cap="flat">
                <a:solidFill>
                  <a:srgbClr val="E4572E"/>
                </a:solidFill>
                <a:prstDash val="solid"/>
                <a:round/>
              </a:ln>
              <a:effectLst/>
            </c:spPr>
          </c:marker>
          <c:cat>
            <c:multiLvlStrRef>
              <c:f>Sheet1!$A$2:$A$13</c:f>
              <c:multiLvlStrCache>
                <c:ptCount val="12"/>
                <c:lvl>
                  <c:pt idx="0">
                    <c:v>5k</c:v>
                  </c:pt>
                  <c:pt idx="1">
                    <c:v>10k</c:v>
                  </c:pt>
                  <c:pt idx="2">
                    <c:v>15k</c:v>
                  </c:pt>
                  <c:pt idx="3">
                    <c:v>20k</c:v>
                  </c:pt>
                  <c:pt idx="4">
                    <c:v>25k</c:v>
                  </c:pt>
                  <c:pt idx="5">
                    <c:v>30k</c:v>
                  </c:pt>
                  <c:pt idx="6">
                    <c:v>35k</c:v>
                  </c:pt>
                  <c:pt idx="7">
                    <c:v>40k</c:v>
                  </c:pt>
                  <c:pt idx="8">
                    <c:v>45k</c:v>
                  </c:pt>
                  <c:pt idx="9">
                    <c:v>50k</c:v>
                  </c:pt>
                  <c:pt idx="10">
                    <c:v>55k</c:v>
                  </c:pt>
                  <c:pt idx="11">
                    <c:v>60k</c:v>
                  </c:pt>
                </c:lvl>
              </c:multiLvlStrCache>
            </c:multiLvlStrRef>
          </c:cat>
          <c:val>
            <c:numRef>
              <c:f>Sheet1!$C$2:$C$13</c:f>
              <c:numCache>
                <c:formatCode>General</c:formatCode>
                <c:ptCount val="12"/>
                <c:pt idx="0">
                  <c:v>19.7</c:v>
                </c:pt>
                <c:pt idx="1">
                  <c:v>34.6</c:v>
                </c:pt>
                <c:pt idx="2">
                  <c:v>48.2</c:v>
                </c:pt>
                <c:pt idx="3">
                  <c:v>59.9</c:v>
                </c:pt>
                <c:pt idx="4">
                  <c:v>69.5</c:v>
                </c:pt>
                <c:pt idx="5">
                  <c:v>77.3</c:v>
                </c:pt>
                <c:pt idx="6">
                  <c:v>83.3</c:v>
                </c:pt>
                <c:pt idx="7">
                  <c:v>87.8</c:v>
                </c:pt>
                <c:pt idx="8">
                  <c:v>91.2</c:v>
                </c:pt>
                <c:pt idx="9">
                  <c:v>93.8</c:v>
                </c:pt>
                <c:pt idx="10">
                  <c:v>95.6</c:v>
                </c:pt>
                <c:pt idx="11">
                  <c:v>96.9</c:v>
                </c:pt>
              </c:numCache>
            </c:numRef>
          </c:val>
          <c:smooth val="0"/>
        </c:ser>
        <c:ser>
          <c:idx val="2"/>
          <c:order val="2"/>
          <c:tx>
            <c:strRef>
              <c:f>Sheet1!$D$1</c:f>
              <c:strCache>
                <c:ptCount val="1"/>
                <c:pt idx="0">
                  <c:v>20% true lift</c:v>
                </c:pt>
              </c:strCache>
            </c:strRef>
          </c:tx>
          <c:spPr>
            <a:solidFill>
              <a:srgbClr val="2C5F2D"/>
            </a:solidFill>
            <a:ln w="25400" cap="flat">
              <a:solidFill>
                <a:srgbClr val="2C5F2D"/>
              </a:solidFill>
              <a:prstDash val="solid"/>
              <a:round/>
            </a:ln>
            <a:effectLst/>
          </c:spPr>
          <c:invertIfNegative val="0"/>
          <c:dLbls>
            <c:numFmt formatCode="#,##0" sourceLinked="0"/>
            <c:txPr>
              <a:bodyPr/>
              <a:lstStyle/>
              <a:p>
                <a:pPr>
                  <a:defRPr b="0" i="0" strike="noStrike" sz="1300" u="none">
                    <a:solidFill>
                      <a:srgbClr val="1F2A24"/>
                    </a:solidFill>
                    <a:latin typeface="+mn-lt"/>
                  </a:defRPr>
                </a:pPr>
              </a:p>
            </c:txPr>
            <c:showLegendKey val="0"/>
            <c:showVal val="0"/>
            <c:showCatName val="0"/>
            <c:showSerName val="0"/>
            <c:showPercent val="0"/>
            <c:showBubbleSize val="0"/>
            <c:showLeaderLines val="0"/>
          </c:dLbls>
          <c:marker>
            <c:symbol val="none"/>
            <c:size val="6"/>
            <c:spPr>
              <a:solidFill>
                <a:srgbClr val="2C5F2D"/>
              </a:solidFill>
              <a:ln w="9525" cap="flat">
                <a:solidFill>
                  <a:srgbClr val="2C5F2D"/>
                </a:solidFill>
                <a:prstDash val="solid"/>
                <a:round/>
              </a:ln>
              <a:effectLst/>
            </c:spPr>
          </c:marker>
          <c:cat>
            <c:multiLvlStrRef>
              <c:f>Sheet1!$A$2:$A$13</c:f>
              <c:multiLvlStrCache>
                <c:ptCount val="12"/>
                <c:lvl>
                  <c:pt idx="0">
                    <c:v>5k</c:v>
                  </c:pt>
                  <c:pt idx="1">
                    <c:v>10k</c:v>
                  </c:pt>
                  <c:pt idx="2">
                    <c:v>15k</c:v>
                  </c:pt>
                  <c:pt idx="3">
                    <c:v>20k</c:v>
                  </c:pt>
                  <c:pt idx="4">
                    <c:v>25k</c:v>
                  </c:pt>
                  <c:pt idx="5">
                    <c:v>30k</c:v>
                  </c:pt>
                  <c:pt idx="6">
                    <c:v>35k</c:v>
                  </c:pt>
                  <c:pt idx="7">
                    <c:v>40k</c:v>
                  </c:pt>
                  <c:pt idx="8">
                    <c:v>45k</c:v>
                  </c:pt>
                  <c:pt idx="9">
                    <c:v>50k</c:v>
                  </c:pt>
                  <c:pt idx="10">
                    <c:v>55k</c:v>
                  </c:pt>
                  <c:pt idx="11">
                    <c:v>60k</c:v>
                  </c:pt>
                </c:lvl>
              </c:multiLvlStrCache>
            </c:multiLvlStrRef>
          </c:cat>
          <c:val>
            <c:numRef>
              <c:f>Sheet1!$D$2:$D$13</c:f>
              <c:numCache>
                <c:formatCode>General</c:formatCode>
                <c:ptCount val="12"/>
                <c:pt idx="0">
                  <c:v>58.1</c:v>
                </c:pt>
                <c:pt idx="1">
                  <c:v>86.4</c:v>
                </c:pt>
                <c:pt idx="2">
                  <c:v>96.3</c:v>
                </c:pt>
                <c:pt idx="3">
                  <c:v>99.1</c:v>
                </c:pt>
                <c:pt idx="4">
                  <c:v>99.8</c:v>
                </c:pt>
                <c:pt idx="5">
                  <c:v>100</c:v>
                </c:pt>
                <c:pt idx="6">
                  <c:v>100</c:v>
                </c:pt>
                <c:pt idx="7">
                  <c:v>100</c:v>
                </c:pt>
                <c:pt idx="8">
                  <c:v>100</c:v>
                </c:pt>
                <c:pt idx="9">
                  <c:v>100</c:v>
                </c:pt>
                <c:pt idx="10">
                  <c:v>100</c:v>
                </c:pt>
                <c:pt idx="11">
                  <c:v>100</c:v>
                </c:pt>
              </c:numCache>
            </c:numRef>
          </c:val>
          <c:smooth val="0"/>
        </c:ser>
        <c:ser>
          <c:idx val="3"/>
          <c:order val="3"/>
          <c:tx>
            <c:strRef>
              <c:f>Sheet1!$E$1</c:f>
              <c:strCache>
                <c:ptCount val="1"/>
                <c:pt idx="0">
                  <c:v>80% power target</c:v>
                </c:pt>
              </c:strCache>
            </c:strRef>
          </c:tx>
          <c:spPr>
            <a:solidFill>
              <a:srgbClr val="7D8A84"/>
            </a:solidFill>
            <a:ln w="25400" cap="flat">
              <a:solidFill>
                <a:srgbClr val="7D8A84"/>
              </a:solidFill>
              <a:prstDash val="solid"/>
              <a:round/>
            </a:ln>
            <a:effectLst/>
          </c:spPr>
          <c:invertIfNegative val="0"/>
          <c:dLbls>
            <c:numFmt formatCode="#,##0" sourceLinked="0"/>
            <c:txPr>
              <a:bodyPr/>
              <a:lstStyle/>
              <a:p>
                <a:pPr>
                  <a:defRPr b="0" i="0" strike="noStrike" sz="1300" u="none">
                    <a:solidFill>
                      <a:srgbClr val="1F2A24"/>
                    </a:solidFill>
                    <a:latin typeface="+mn-lt"/>
                  </a:defRPr>
                </a:pPr>
              </a:p>
            </c:txPr>
            <c:showLegendKey val="0"/>
            <c:showVal val="0"/>
            <c:showCatName val="0"/>
            <c:showSerName val="0"/>
            <c:showPercent val="0"/>
            <c:showBubbleSize val="0"/>
            <c:showLeaderLines val="0"/>
          </c:dLbls>
          <c:marker>
            <c:symbol val="none"/>
            <c:size val="6"/>
            <c:spPr>
              <a:solidFill>
                <a:srgbClr val="7D8A84"/>
              </a:solidFill>
              <a:ln w="9525" cap="flat">
                <a:solidFill>
                  <a:srgbClr val="7D8A84"/>
                </a:solidFill>
                <a:prstDash val="solid"/>
                <a:round/>
              </a:ln>
              <a:effectLst/>
            </c:spPr>
          </c:marker>
          <c:cat>
            <c:multiLvlStrRef>
              <c:f>Sheet1!$A$2:$A$13</c:f>
              <c:multiLvlStrCache>
                <c:ptCount val="12"/>
                <c:lvl>
                  <c:pt idx="0">
                    <c:v>5k</c:v>
                  </c:pt>
                  <c:pt idx="1">
                    <c:v>10k</c:v>
                  </c:pt>
                  <c:pt idx="2">
                    <c:v>15k</c:v>
                  </c:pt>
                  <c:pt idx="3">
                    <c:v>20k</c:v>
                  </c:pt>
                  <c:pt idx="4">
                    <c:v>25k</c:v>
                  </c:pt>
                  <c:pt idx="5">
                    <c:v>30k</c:v>
                  </c:pt>
                  <c:pt idx="6">
                    <c:v>35k</c:v>
                  </c:pt>
                  <c:pt idx="7">
                    <c:v>40k</c:v>
                  </c:pt>
                  <c:pt idx="8">
                    <c:v>45k</c:v>
                  </c:pt>
                  <c:pt idx="9">
                    <c:v>50k</c:v>
                  </c:pt>
                  <c:pt idx="10">
                    <c:v>55k</c:v>
                  </c:pt>
                  <c:pt idx="11">
                    <c:v>60k</c:v>
                  </c:pt>
                </c:lvl>
              </c:multiLvlStrCache>
            </c:multiLvlStrRef>
          </c:cat>
          <c:val>
            <c:numRef>
              <c:f>Sheet1!$E$2:$E$13</c:f>
              <c:numCache>
                <c:formatCode>General</c:formatCode>
                <c:ptCount val="12"/>
                <c:pt idx="0">
                  <c:v>80</c:v>
                </c:pt>
                <c:pt idx="1">
                  <c:v>80</c:v>
                </c:pt>
                <c:pt idx="2">
                  <c:v>80</c:v>
                </c:pt>
                <c:pt idx="3">
                  <c:v>80</c:v>
                </c:pt>
                <c:pt idx="4">
                  <c:v>80</c:v>
                </c:pt>
                <c:pt idx="5">
                  <c:v>80</c:v>
                </c:pt>
                <c:pt idx="6">
                  <c:v>80</c:v>
                </c:pt>
                <c:pt idx="7">
                  <c:v>80</c:v>
                </c:pt>
                <c:pt idx="8">
                  <c:v>80</c:v>
                </c:pt>
                <c:pt idx="9">
                  <c:v>80</c:v>
                </c:pt>
                <c:pt idx="10">
                  <c:v>80</c:v>
                </c:pt>
                <c:pt idx="11">
                  <c:v>80</c:v>
                </c:pt>
              </c:numCache>
            </c:numRef>
          </c:val>
          <c:smooth val="0"/>
        </c:ser>
        <c:dLbls>
          <c:numFmt formatCode="#,##0" sourceLinked="0"/>
          <c:txPr>
            <a:bodyPr/>
            <a:lstStyle/>
            <a:p>
              <a:pPr>
                <a:defRPr b="0" i="0" strike="noStrike" sz="1300" u="none">
                  <a:solidFill>
                    <a:srgbClr val="1F2A2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7D8A84"/>
                    </a:solidFill>
                    <a:latin typeface="+mn-lt"/>
                  </a:defRPr>
                </a:pPr>
                <a:r>
                  <a:rPr sz="1200" b="0" i="0" u="none" strike="noStrike">
                    <a:solidFill>
                      <a:srgbClr val="7D8A84"/>
                    </a:solidFill>
                    <a:latin typeface="+mn-lt"/>
                  </a:rPr>
                  <a:t>Visitors per group (we had ~20k)</a:t>
                </a:r>
              </a:p>
            </c:rich>
          </c:tx>
          <c:layout/>
          <c:overlay val="0"/>
        </c:title>
        <c:numFmt formatCode="General" sourceLinked="1"/>
        <c:majorTickMark val="out"/>
        <c:minorTickMark val="none"/>
        <c:tickLblPos val="low"/>
        <c:spPr>
          <a:ln w="12700" cap="flat">
            <a:solidFill>
              <a:srgbClr val="C8CCC6"/>
            </a:solidFill>
            <a:prstDash val="solid"/>
            <a:round/>
          </a:ln>
        </c:spPr>
        <c:txPr>
          <a:bodyPr/>
          <a:lstStyle/>
          <a:p>
            <a:pPr>
              <a:defRPr sz="1300" b="0" i="0" u="none" strike="noStrike">
                <a:solidFill>
                  <a:srgbClr val="1F2A24"/>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1"/>
              </a:solidFill>
              <a:prstDash val="solid"/>
              <a:round/>
            </a:ln>
          </c:spPr>
        </c:majorGridlines>
        <c:title>
          <c:tx>
            <c:rich>
              <a:bodyPr/>
              <a:lstStyle/>
              <a:p>
                <a:pPr>
                  <a:defRPr sz="1200" b="0" i="0" u="none" strike="noStrike">
                    <a:solidFill>
                      <a:srgbClr val="7D8A84"/>
                    </a:solidFill>
                    <a:latin typeface="+mn-lt"/>
                  </a:defRPr>
                </a:pPr>
                <a:r>
                  <a:rPr sz="1200" b="0" i="0" u="none" strike="noStrike">
                    <a:solidFill>
                      <a:srgbClr val="7D8A84"/>
                    </a:solidFill>
                    <a:latin typeface="+mn-lt"/>
                  </a:rPr>
                  <a:t>Chance of detecting the lift</a:t>
                </a:r>
              </a:p>
            </c:rich>
          </c:tx>
          <c:layout/>
          <c:overlay val="0"/>
        </c:title>
        <c:numFmt formatCode="0&quot;%&quot;" sourceLinked="0"/>
        <c:majorTickMark val="out"/>
        <c:minorTickMark val="none"/>
        <c:tickLblPos val="nextTo"/>
        <c:spPr>
          <a:ln w="12700" cap="flat">
            <a:noFill/>
            <a:prstDash val="solid"/>
            <a:round/>
          </a:ln>
        </c:spPr>
        <c:txPr>
          <a:bodyPr/>
          <a:lstStyle/>
          <a:p>
            <a:pPr>
              <a:defRPr sz="1200" b="0" i="0" u="none" strike="noStrike">
                <a:solidFill>
                  <a:srgbClr val="7D8A84"/>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300">
              <a:solidFill>
                <a:srgbClr val="1F2A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Week 1</c:v>
                </c:pt>
              </c:strCache>
            </c:strRef>
          </c:tx>
          <c:spPr>
            <a:solidFill>
              <a:srgbClr val="97BC62"/>
            </a:solidFill>
            <a:effectLst/>
          </c:spPr>
          <c:invertIfNegative val="0"/>
          <c:dLbls>
            <c:numFmt formatCode="+0.0&quot;%&quot;" sourceLinked="0"/>
            <c:txPr>
              <a:bodyPr/>
              <a:lstStyle/>
              <a:p>
                <a:pPr>
                  <a:defRPr b="0" i="0" strike="noStrike" sz="1300" u="none">
                    <a:solidFill>
                      <a:srgbClr val="1F2A24"/>
                    </a:solidFill>
                    <a:latin typeface="+mn-lt"/>
                  </a:defRPr>
                </a:pPr>
              </a:p>
            </c:txPr>
            <c:showLegendKey val="0"/>
            <c:showVal val="1"/>
            <c:showCatName val="0"/>
            <c:showSerName val="0"/>
            <c:showPercent val="0"/>
            <c:showBubbleSize val="0"/>
            <c:showLeaderLines val="0"/>
          </c:dLbls>
          <c:cat>
            <c:multiLvlStrRef>
              <c:f>Sheet1!$A$2:$A$3</c:f>
              <c:multiLvlStrCache>
                <c:ptCount val="2"/>
                <c:lvl>
                  <c:pt idx="0">
                    <c:v>Choosing a plan</c:v>
                  </c:pt>
                  <c:pt idx="1">
                    <c:v>Placing a first order</c:v>
                  </c:pt>
                </c:lvl>
              </c:multiLvlStrCache>
            </c:multiLvlStrRef>
          </c:cat>
          <c:val>
            <c:numRef>
              <c:f>Sheet1!$B$2:$B$3</c:f>
              <c:numCache>
                <c:formatCode>General</c:formatCode>
                <c:ptCount val="2"/>
                <c:pt idx="0">
                  <c:v>32.2</c:v>
                </c:pt>
                <c:pt idx="1">
                  <c:v>21.4</c:v>
                </c:pt>
              </c:numCache>
            </c:numRef>
          </c:val>
        </c:ser>
        <c:ser>
          <c:idx val="1"/>
          <c:order val="1"/>
          <c:tx>
            <c:strRef>
              <c:f>Sheet1!$C$1</c:f>
              <c:strCache>
                <c:ptCount val="1"/>
                <c:pt idx="0">
                  <c:v>Week 2</c:v>
                </c:pt>
              </c:strCache>
            </c:strRef>
          </c:tx>
          <c:spPr>
            <a:solidFill>
              <a:srgbClr val="2C5F2D"/>
            </a:solidFill>
            <a:effectLst/>
          </c:spPr>
          <c:invertIfNegative val="0"/>
          <c:dLbls>
            <c:numFmt formatCode="+0.0&quot;%&quot;" sourceLinked="0"/>
            <c:txPr>
              <a:bodyPr/>
              <a:lstStyle/>
              <a:p>
                <a:pPr>
                  <a:defRPr b="0" i="0" strike="noStrike" sz="1300" u="none">
                    <a:solidFill>
                      <a:srgbClr val="1F2A24"/>
                    </a:solidFill>
                    <a:latin typeface="+mn-lt"/>
                  </a:defRPr>
                </a:pPr>
              </a:p>
            </c:txPr>
            <c:showLegendKey val="0"/>
            <c:showVal val="1"/>
            <c:showCatName val="0"/>
            <c:showSerName val="0"/>
            <c:showPercent val="0"/>
            <c:showBubbleSize val="0"/>
            <c:showLeaderLines val="0"/>
          </c:dLbls>
          <c:cat>
            <c:multiLvlStrRef>
              <c:f>Sheet1!$A$2:$A$3</c:f>
              <c:multiLvlStrCache>
                <c:ptCount val="2"/>
                <c:lvl>
                  <c:pt idx="0">
                    <c:v>Choosing a plan</c:v>
                  </c:pt>
                  <c:pt idx="1">
                    <c:v>Placing a first order</c:v>
                  </c:pt>
                </c:lvl>
              </c:multiLvlStrCache>
            </c:multiLvlStrRef>
          </c:cat>
          <c:val>
            <c:numRef>
              <c:f>Sheet1!$C$2:$C$3</c:f>
              <c:numCache>
                <c:formatCode>General</c:formatCode>
                <c:ptCount val="2"/>
                <c:pt idx="0">
                  <c:v>17.7</c:v>
                </c:pt>
                <c:pt idx="1">
                  <c:v>12.4</c:v>
                </c:pt>
              </c:numCache>
            </c:numRef>
          </c:val>
        </c:ser>
        <c:dLbls>
          <c:numFmt formatCode="+0.0&quot;%&quot;" sourceLinked="0"/>
          <c:txPr>
            <a:bodyPr/>
            <a:lstStyle/>
            <a:p>
              <a:pPr>
                <a:defRPr b="0" i="0" strike="noStrike" sz="1300" u="none">
                  <a:solidFill>
                    <a:srgbClr val="1F2A24"/>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8CCC6"/>
            </a:solidFill>
            <a:prstDash val="solid"/>
            <a:round/>
          </a:ln>
        </c:spPr>
        <c:txPr>
          <a:bodyPr/>
          <a:lstStyle/>
          <a:p>
            <a:pPr>
              <a:defRPr sz="1300" b="0" i="0" u="none" strike="noStrike">
                <a:solidFill>
                  <a:srgbClr val="1F2A24"/>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E3E6E1"/>
              </a:solidFill>
              <a:prstDash val="solid"/>
              <a:round/>
            </a:ln>
          </c:spPr>
        </c:majorGridlines>
        <c:title>
          <c:tx>
            <c:rich>
              <a:bodyPr/>
              <a:lstStyle/>
              <a:p>
                <a:pPr>
                  <a:defRPr sz="1200" b="0" i="0" u="none" strike="noStrike">
                    <a:solidFill>
                      <a:srgbClr val="7D8A84"/>
                    </a:solidFill>
                    <a:latin typeface="+mn-lt"/>
                  </a:defRPr>
                </a:pPr>
                <a:r>
                  <a:rPr sz="1200" b="0" i="0" u="none" strike="noStrike">
                    <a:solidFill>
                      <a:srgbClr val="7D8A84"/>
                    </a:solidFill>
                    <a:latin typeface="+mn-lt"/>
                  </a:rPr>
                  <a:t>Lift vs. current design</a:t>
                </a:r>
              </a:p>
            </c:rich>
          </c:tx>
          <c:layout/>
          <c:overlay val="0"/>
        </c:title>
        <c:numFmt formatCode="0&quot;%&quot;" sourceLinked="0"/>
        <c:majorTickMark val="out"/>
        <c:minorTickMark val="none"/>
        <c:tickLblPos val="nextTo"/>
        <c:spPr>
          <a:ln w="12700" cap="flat">
            <a:noFill/>
            <a:prstDash val="solid"/>
            <a:round/>
          </a:ln>
        </c:spPr>
        <c:txPr>
          <a:bodyPr/>
          <a:lstStyle/>
          <a:p>
            <a:pPr>
              <a:defRPr sz="1200" b="0" i="0" u="none" strike="noStrike">
                <a:solidFill>
                  <a:srgbClr val="7D8A84"/>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300">
              <a:solidFill>
                <a:srgbClr val="1F2A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Current design</c:v>
                </c:pt>
              </c:strCache>
            </c:strRef>
          </c:tx>
          <c:spPr>
            <a:solidFill>
              <a:srgbClr val="9AA5A0"/>
            </a:solidFill>
            <a:effectLst/>
          </c:spPr>
          <c:invertIfNegative val="0"/>
          <c:dLbls>
            <c:numFmt formatCode="0" sourceLinked="0"/>
            <c:txPr>
              <a:bodyPr/>
              <a:lstStyle/>
              <a:p>
                <a:pPr>
                  <a:defRPr b="0" i="0" strike="noStrike" sz="1300" u="none">
                    <a:solidFill>
                      <a:srgbClr val="1F2A24"/>
                    </a:solidFill>
                    <a:latin typeface="+mn-lt"/>
                  </a:defRPr>
                </a:pPr>
              </a:p>
            </c:txPr>
            <c:showLegendKey val="0"/>
            <c:showVal val="1"/>
            <c:showCatName val="0"/>
            <c:showSerName val="0"/>
            <c:showPercent val="0"/>
            <c:showBubbleSize val="0"/>
            <c:showLeaderLines val="0"/>
          </c:dLbls>
          <c:cat>
            <c:multiLvlStrRef>
              <c:f>Sheet1!$A$2:$A$4</c:f>
              <c:multiLvlStrCache>
                <c:ptCount val="3"/>
                <c:lvl>
                  <c:pt idx="0">
                    <c:v>Chose a plan</c:v>
                  </c:pt>
                  <c:pt idx="1">
                    <c:v>Started checkout</c:v>
                  </c:pt>
                  <c:pt idx="2">
                    <c:v>Placed order</c:v>
                  </c:pt>
                </c:lvl>
              </c:multiLvlStrCache>
            </c:multiLvlStrRef>
          </c:cat>
          <c:val>
            <c:numRef>
              <c:f>Sheet1!$B$2:$B$4</c:f>
              <c:numCache>
                <c:formatCode>General</c:formatCode>
                <c:ptCount val="3"/>
                <c:pt idx="0">
                  <c:v>219.5</c:v>
                </c:pt>
                <c:pt idx="1">
                  <c:v>117.9</c:v>
                </c:pt>
                <c:pt idx="2">
                  <c:v>48.7</c:v>
                </c:pt>
              </c:numCache>
            </c:numRef>
          </c:val>
        </c:ser>
        <c:ser>
          <c:idx val="1"/>
          <c:order val="1"/>
          <c:tx>
            <c:strRef>
              <c:f>Sheet1!$C$1</c:f>
              <c:strCache>
                <c:ptCount val="1"/>
                <c:pt idx="0">
                  <c:v>New design</c:v>
                </c:pt>
              </c:strCache>
            </c:strRef>
          </c:tx>
          <c:spPr>
            <a:solidFill>
              <a:srgbClr val="2C5F2D"/>
            </a:solidFill>
            <a:effectLst/>
          </c:spPr>
          <c:invertIfNegative val="0"/>
          <c:dLbls>
            <c:numFmt formatCode="0" sourceLinked="0"/>
            <c:txPr>
              <a:bodyPr/>
              <a:lstStyle/>
              <a:p>
                <a:pPr>
                  <a:defRPr b="0" i="0" strike="noStrike" sz="1300" u="none">
                    <a:solidFill>
                      <a:srgbClr val="1F2A24"/>
                    </a:solidFill>
                    <a:latin typeface="+mn-lt"/>
                  </a:defRPr>
                </a:pPr>
              </a:p>
            </c:txPr>
            <c:showLegendKey val="0"/>
            <c:showVal val="1"/>
            <c:showCatName val="0"/>
            <c:showSerName val="0"/>
            <c:showPercent val="0"/>
            <c:showBubbleSize val="0"/>
            <c:showLeaderLines val="0"/>
          </c:dLbls>
          <c:cat>
            <c:multiLvlStrRef>
              <c:f>Sheet1!$A$2:$A$4</c:f>
              <c:multiLvlStrCache>
                <c:ptCount val="3"/>
                <c:lvl>
                  <c:pt idx="0">
                    <c:v>Chose a plan</c:v>
                  </c:pt>
                  <c:pt idx="1">
                    <c:v>Started checkout</c:v>
                  </c:pt>
                  <c:pt idx="2">
                    <c:v>Placed order</c:v>
                  </c:pt>
                </c:lvl>
              </c:multiLvlStrCache>
            </c:multiLvlStrRef>
          </c:cat>
          <c:val>
            <c:numRef>
              <c:f>Sheet1!$C$2:$C$4</c:f>
              <c:numCache>
                <c:formatCode>General</c:formatCode>
                <c:ptCount val="3"/>
                <c:pt idx="0">
                  <c:v>274.2</c:v>
                </c:pt>
                <c:pt idx="1">
                  <c:v>140.1</c:v>
                </c:pt>
                <c:pt idx="2">
                  <c:v>57</c:v>
                </c:pt>
              </c:numCache>
            </c:numRef>
          </c:val>
        </c:ser>
        <c:dLbls>
          <c:numFmt formatCode="0" sourceLinked="0"/>
          <c:txPr>
            <a:bodyPr/>
            <a:lstStyle/>
            <a:p>
              <a:pPr>
                <a:defRPr b="0" i="0" strike="noStrike" sz="1300" u="none">
                  <a:solidFill>
                    <a:srgbClr val="1F2A2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8CCC6"/>
            </a:solidFill>
            <a:prstDash val="solid"/>
            <a:round/>
          </a:ln>
        </c:spPr>
        <c:txPr>
          <a:bodyPr/>
          <a:lstStyle/>
          <a:p>
            <a:pPr>
              <a:defRPr sz="1300" b="0" i="0" u="none" strike="noStrike">
                <a:solidFill>
                  <a:srgbClr val="1F2A24"/>
                </a:solidFill>
                <a:latin typeface="+mn-lt"/>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9525" cap="flat">
              <a:solidFill>
                <a:srgbClr val="E3E6E1"/>
              </a:solidFill>
              <a:prstDash val="solid"/>
              <a:round/>
            </a:ln>
          </c:spPr>
        </c:majorGridlines>
        <c:title>
          <c:tx>
            <c:rich>
              <a:bodyPr/>
              <a:lstStyle/>
              <a:p>
                <a:pPr>
                  <a:defRPr sz="1200" b="0" i="0" u="none" strike="noStrike">
                    <a:solidFill>
                      <a:srgbClr val="7D8A84"/>
                    </a:solidFill>
                    <a:latin typeface="+mn-lt"/>
                  </a:defRPr>
                </a:pPr>
                <a:r>
                  <a:rPr sz="1200" b="0" i="0" u="none" strike="noStrike">
                    <a:solidFill>
                      <a:srgbClr val="7D8A84"/>
                    </a:solidFill>
                    <a:latin typeface="+mn-lt"/>
                  </a:rPr>
                  <a:t>Visitors per 1,000</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7D8A84"/>
                </a:solidFill>
                <a:latin typeface="+mn-lt"/>
              </a:defRPr>
            </a:pPr>
            <a:endParaRPr lang="en-US"/>
          </a:p>
        </c:txPr>
        <c:crossAx val="2094734554"/>
        <c:crosses val="autoZero"/>
        <c:crossBetween val="between"/>
        <c:majorUnit val="100"/>
      </c:valAx>
      <c:spPr>
        <a:noFill/>
        <a:ln>
          <a:noFill/>
        </a:ln>
        <a:effectLst/>
      </c:spPr>
    </c:plotArea>
    <c:legend>
      <c:legendPos val="b"/>
      <c:overlay val="0"/>
      <c:txPr>
        <a:bodyPr/>
        <a:lstStyle/>
        <a:p>
          <a:pPr>
            <a:defRPr sz="1300">
              <a:solidFill>
                <a:srgbClr val="1F2A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a two-week A/B test on how FreshCrate shows its price on the plan-selection page. The short version: the new display works, but the test overstates how much. I'll walk through why, and what I'd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groups saw the same box at the same price; only the way the price is written changed. The key number to remember is the 10% target lift, which the team set before the test started. It comes back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1-in-4,500 figure is the p-value of 0.00022 translated into plain language: if the new display did nothing, a gap this large would happen by chance about once in 4,500 tests. Revenue was checked three ways (Welch's t-test, a bootstrap and Mann-Whitney) and all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planted these problems in the simulated data on purpose, and the analysis had to find them without being told. The sample-ratio check is the first thing to run on any A/B test: if the split is off, nothing downstream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t-test doesn't need the raw data to be bell-shaped; it needs the average to be, and with enough users the Central Limit Theorem guarantees that. The rule of thumb is a sample size above 25 times the skewness squared. Revenue's skew of 4.9 needs about 600 users; we had nearly 20,000.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is the chance a test detects a real effect. This one had 59% power for the 10% target, and needed about 32,000 users per group to reach 80%. When an underpowered test does come out significant, it's usually because of a lucky high draw, so the measured lift is inflated. Our simulation puts that inflation at about 1.3x at this sample size. This is the 'winner's curse'.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novelty effect: people react to something partly because it's new. I tested it with a logistic regression including a treatment-by-day interaction. The decay is clear for plan selection. For orders the trend points the same way, but there are about five times fewer orders than plan selections, so two weeks isn't enough to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is tested only among people who reached the previous step, with a correction for running three tests. The checkout drop makes sense: a visitor who chose a plan at $9.99 per serving then sees $79.92 at checkout. If checkout had held at the current design's rate, the new design would convert at about 6.0% instead of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mistake is to say 'it works on mobile but not desktop' because one is significant and the other isn't. The right test is an interaction term comparing the two effects directly, and it finds no difference. Every segment is underpowered on its own, which is expected: each has a fraction of the total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 is to launch, because the evidence that it helps is strong. But I'd set expectations at the conservative end, for two reasons covered earlier: the lift is fading, and the test was too small to pin down its size. The follow-up test targets the checkout leak directly. Everything here is reproducible from the GitHub repo, including a reusable template that picks the right statistical test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680960" cy="21031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4069080"/>
            <a:ext cx="7680960" cy="137160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lstStyle>
            <a:lvl1pPr indent="0" marL="0">
              <a:buNone/>
              <a:defRPr lang="en-US" sz="1600" i="1" dirty="0">
                <a:solidFill>
                  <a:schemeClr val="accent5"/>
                </a:solidFill>
              </a:defRPr>
            </a:lvl1pPr>
          </a:lstStyle>
          <a:p>
            <a:pPr indent="0" marL="0">
              <a:buNone/>
            </a:pPr>
            <a:endParaRPr lang="en-US" sz="1600" dirty="0"/>
          </a:p>
        </p:txBody>
      </p:sp>
      <p:sp>
        <p:nvSpPr>
          <p:cNvPr id="4"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FreshCrate price-framing A/B test</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680960" cy="210312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Price Per Serving Wins, but the Gain Is Smaller Than It Looks</a:t>
            </a:r>
            <a:endParaRPr lang="en-US" sz="4000" dirty="0"/>
          </a:p>
        </p:txBody>
      </p:sp>
      <p:sp>
        <p:nvSpPr>
          <p:cNvPr id="3" name="Text 0"/>
          <p:cNvSpPr/>
          <p:nvPr>
            <p:ph idx="101" type="body" hasCustomPrompt="1"/>
          </p:nvPr>
        </p:nvSpPr>
        <p:spPr>
          <a:xfrm>
            <a:off x="731520" y="4069080"/>
            <a:ext cx="7680960" cy="1371600"/>
          </a:xfrm>
          <a:prstGeom prst="rect">
            <a:avLst/>
          </a:prstGeom>
          <a:noFill/>
          <a:ln/>
        </p:spPr>
        <p:txBody>
          <a:bodyPr wrap="square" rtlCol="0" anchor="t"/>
          <a:lstStyle/>
          <a:p>
            <a:pPr indent="0" marL="0">
              <a:buNone/>
            </a:pPr>
            <a:r>
              <a:rPr lang="en-US" sz="1800" dirty="0">
                <a:solidFill>
                  <a:schemeClr val="accent2"/>
                </a:solidFill>
              </a:rPr>
              <a:t>FreshCrate plan-page A/B test  ·  Sep 14–27, 2026  ·  39,228 visitors</a:t>
            </a:r>
            <a:endParaRPr lang="en-US" sz="1800" dirty="0"/>
          </a:p>
          <a:p>
            <a:pPr indent="0" marL="0">
              <a:buNone/>
            </a:pPr>
            <a:r>
              <a:rPr lang="en-US" sz="1800" dirty="0">
                <a:solidFill>
                  <a:schemeClr val="accent2"/>
                </a:solidFill>
              </a:rPr>
              <a:t>Arpita  ·  Data analysis portfolio project</a:t>
            </a:r>
            <a:endParaRPr lang="en-US" sz="1800" dirty="0"/>
          </a:p>
        </p:txBody>
      </p:sp>
      <p:sp>
        <p:nvSpPr>
          <p:cNvPr id="4" name="Price tag circle"/>
          <p:cNvSpPr/>
          <p:nvPr/>
        </p:nvSpPr>
        <p:spPr>
          <a:xfrm>
            <a:off x="9098280" y="2148840"/>
            <a:ext cx="2286000" cy="2286000"/>
          </a:xfrm>
          <a:prstGeom prst="ellipse">
            <a:avLst/>
          </a:prstGeom>
          <a:solidFill>
            <a:schemeClr val="accent2"/>
          </a:solidFill>
          <a:ln w="12700">
            <a:solidFill>
              <a:schemeClr val="accent2"/>
            </a:solidFill>
            <a:prstDash val="solid"/>
          </a:ln>
        </p:spPr>
      </p:sp>
      <p:pic>
        <p:nvPicPr>
          <p:cNvPr id="5" name="Price tag icon" descr="preencoded.png">    </p:cNvPr>
          <p:cNvPicPr>
            <a:picLocks noChangeAspect="1"/>
          </p:cNvPicPr>
          <p:nvPr/>
        </p:nvPicPr>
        <p:blipFill>
          <a:blip r:embed="rId1"/>
          <a:stretch>
            <a:fillRect/>
          </a:stretch>
        </p:blipFill>
        <p:spPr>
          <a:xfrm>
            <a:off x="9669780" y="2720340"/>
            <a:ext cx="1143000" cy="114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Same Price, Two Ways to Show It</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indent="0" marL="0">
              <a:buNone/>
            </a:pPr>
            <a:r>
              <a:rPr lang="en-US" sz="1600" i="1" dirty="0">
                <a:solidFill>
                  <a:schemeClr val="accent5"/>
                </a:solidFill>
              </a:rPr>
              <a:t>Visitors were randomly shown one of two price displays on the plan-selection page</a:t>
            </a:r>
            <a:endParaRPr lang="en-US" sz="1600" dirty="0"/>
          </a:p>
        </p:txBody>
      </p:sp>
      <p:sp>
        <p:nvSpPr>
          <p:cNvPr id="4" name="CONTROL  ·  current design card"/>
          <p:cNvSpPr/>
          <p:nvPr/>
        </p:nvSpPr>
        <p:spPr>
          <a:xfrm>
            <a:off x="548640" y="1737360"/>
            <a:ext cx="5394960" cy="2743200"/>
          </a:xfrm>
          <a:prstGeom prst="roundRect">
            <a:avLst>
              <a:gd name="adj" fmla="val 4000"/>
            </a:avLst>
          </a:prstGeom>
          <a:solidFill>
            <a:schemeClr val="bg2"/>
          </a:solidFill>
          <a:ln w="12700">
            <a:solidFill>
              <a:schemeClr val="bg2"/>
            </a:solidFill>
            <a:prstDash val="solid"/>
          </a:ln>
        </p:spPr>
      </p:sp>
      <p:sp>
        <p:nvSpPr>
          <p:cNvPr id="5" name="Text 3"/>
          <p:cNvSpPr txBox="1"/>
          <p:nvPr/>
        </p:nvSpPr>
        <p:spPr>
          <a:xfrm>
            <a:off x="914400" y="2011680"/>
            <a:ext cx="4663440" cy="365760"/>
          </a:xfrm>
          <a:prstGeom prst="rect">
            <a:avLst/>
          </a:prstGeom>
          <a:noFill/>
          <a:ln/>
        </p:spPr>
        <p:txBody>
          <a:bodyPr wrap="square" lIns="0" tIns="0" rIns="0" bIns="0" rtlCol="0" anchor="t"/>
          <a:lstStyle/>
          <a:p>
            <a:pPr indent="0" marL="0">
              <a:buNone/>
            </a:pPr>
            <a:r>
              <a:rPr lang="en-US" sz="1400" b="1" spc="100" kern="0" dirty="0">
                <a:solidFill>
                  <a:schemeClr val="accent5"/>
                </a:solidFill>
              </a:rPr>
              <a:t>CONTROL  ·  current design</a:t>
            </a:r>
            <a:endParaRPr lang="en-US" sz="1400" dirty="0"/>
          </a:p>
        </p:txBody>
      </p:sp>
      <p:sp>
        <p:nvSpPr>
          <p:cNvPr id="6" name="Text 4"/>
          <p:cNvSpPr txBox="1"/>
          <p:nvPr/>
        </p:nvSpPr>
        <p:spPr>
          <a:xfrm>
            <a:off x="914400" y="2514600"/>
            <a:ext cx="4663440" cy="109728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$79.92</a:t>
            </a:r>
            <a:pPr indent="0" marL="0">
              <a:buNone/>
            </a:pPr>
            <a:r>
              <a:rPr lang="en-US" sz="2600" dirty="0">
                <a:solidFill>
                  <a:schemeClr val="tx1"/>
                </a:solidFill>
              </a:rPr>
              <a:t> / week</a:t>
            </a:r>
            <a:endParaRPr lang="en-US" sz="6000" dirty="0"/>
          </a:p>
        </p:txBody>
      </p:sp>
      <p:sp>
        <p:nvSpPr>
          <p:cNvPr id="7" name="Text 5"/>
          <p:cNvSpPr txBox="1"/>
          <p:nvPr/>
        </p:nvSpPr>
        <p:spPr>
          <a:xfrm>
            <a:off x="914400" y="3749040"/>
            <a:ext cx="4663440" cy="365760"/>
          </a:xfrm>
          <a:prstGeom prst="rect">
            <a:avLst/>
          </a:prstGeom>
          <a:noFill/>
          <a:ln/>
        </p:spPr>
        <p:txBody>
          <a:bodyPr wrap="square" lIns="0" tIns="0" rIns="0" bIns="0" rtlCol="0" anchor="t"/>
          <a:lstStyle/>
          <a:p>
            <a:pPr indent="0" marL="0">
              <a:buNone/>
            </a:pPr>
            <a:r>
              <a:rPr lang="en-US" sz="1600" dirty="0">
                <a:solidFill>
                  <a:schemeClr val="tx1"/>
                </a:solidFill>
              </a:rPr>
              <a:t>2 people  ·  4 meals a week</a:t>
            </a:r>
            <a:endParaRPr lang="en-US" sz="1600" dirty="0"/>
          </a:p>
        </p:txBody>
      </p:sp>
      <p:sp>
        <p:nvSpPr>
          <p:cNvPr id="8" name="TREATMENT  ·  new design card"/>
          <p:cNvSpPr/>
          <p:nvPr/>
        </p:nvSpPr>
        <p:spPr>
          <a:xfrm>
            <a:off x="6245352" y="1737360"/>
            <a:ext cx="5394960" cy="2743200"/>
          </a:xfrm>
          <a:prstGeom prst="roundRect">
            <a:avLst>
              <a:gd name="adj" fmla="val 4000"/>
            </a:avLst>
          </a:prstGeom>
          <a:solidFill>
            <a:schemeClr val="bg2"/>
          </a:solidFill>
          <a:ln w="25400">
            <a:solidFill>
              <a:schemeClr val="accent1"/>
            </a:solidFill>
            <a:prstDash val="solid"/>
          </a:ln>
        </p:spPr>
      </p:sp>
      <p:sp>
        <p:nvSpPr>
          <p:cNvPr id="9" name="Text 7"/>
          <p:cNvSpPr txBox="1"/>
          <p:nvPr/>
        </p:nvSpPr>
        <p:spPr>
          <a:xfrm>
            <a:off x="6611112" y="2011680"/>
            <a:ext cx="4663440" cy="365760"/>
          </a:xfrm>
          <a:prstGeom prst="rect">
            <a:avLst/>
          </a:prstGeom>
          <a:noFill/>
          <a:ln/>
        </p:spPr>
        <p:txBody>
          <a:bodyPr wrap="square" lIns="0" tIns="0" rIns="0" bIns="0" rtlCol="0" anchor="t"/>
          <a:lstStyle/>
          <a:p>
            <a:pPr indent="0" marL="0">
              <a:buNone/>
            </a:pPr>
            <a:r>
              <a:rPr lang="en-US" sz="1400" b="1" spc="100" kern="0" dirty="0">
                <a:solidFill>
                  <a:schemeClr val="accent5"/>
                </a:solidFill>
              </a:rPr>
              <a:t>TREATMENT  ·  new design</a:t>
            </a:r>
            <a:endParaRPr lang="en-US" sz="1400" dirty="0"/>
          </a:p>
        </p:txBody>
      </p:sp>
      <p:sp>
        <p:nvSpPr>
          <p:cNvPr id="10" name="Text 8"/>
          <p:cNvSpPr txBox="1"/>
          <p:nvPr/>
        </p:nvSpPr>
        <p:spPr>
          <a:xfrm>
            <a:off x="6611112" y="2514600"/>
            <a:ext cx="4663440" cy="109728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$9.99</a:t>
            </a:r>
            <a:pPr indent="0" marL="0">
              <a:buNone/>
            </a:pPr>
            <a:r>
              <a:rPr lang="en-US" sz="2600" dirty="0">
                <a:solidFill>
                  <a:schemeClr val="tx1"/>
                </a:solidFill>
              </a:rPr>
              <a:t> / serving</a:t>
            </a:r>
            <a:endParaRPr lang="en-US" sz="6000" dirty="0"/>
          </a:p>
        </p:txBody>
      </p:sp>
      <p:sp>
        <p:nvSpPr>
          <p:cNvPr id="11" name="Text 9"/>
          <p:cNvSpPr txBox="1"/>
          <p:nvPr/>
        </p:nvSpPr>
        <p:spPr>
          <a:xfrm>
            <a:off x="6611112" y="3749040"/>
            <a:ext cx="4663440" cy="365760"/>
          </a:xfrm>
          <a:prstGeom prst="rect">
            <a:avLst/>
          </a:prstGeom>
          <a:noFill/>
          <a:ln/>
        </p:spPr>
        <p:txBody>
          <a:bodyPr wrap="square" lIns="0" tIns="0" rIns="0" bIns="0" rtlCol="0" anchor="t"/>
          <a:lstStyle/>
          <a:p>
            <a:pPr indent="0" marL="0">
              <a:buNone/>
            </a:pPr>
            <a:r>
              <a:rPr lang="en-US" sz="1600" dirty="0">
                <a:solidFill>
                  <a:schemeClr val="tx1"/>
                </a:solidFill>
              </a:rPr>
              <a:t>2 people  ·  4 meals a week</a:t>
            </a:r>
            <a:endParaRPr lang="en-US" sz="1600" dirty="0"/>
          </a:p>
        </p:txBody>
      </p:sp>
      <p:sp>
        <p:nvSpPr>
          <p:cNvPr id="12" name="Fact 14 days"/>
          <p:cNvSpPr/>
          <p:nvPr/>
        </p:nvSpPr>
        <p:spPr>
          <a:xfrm>
            <a:off x="548640" y="4754880"/>
            <a:ext cx="2606040" cy="1325880"/>
          </a:xfrm>
          <a:prstGeom prst="roundRect">
            <a:avLst>
              <a:gd name="adj" fmla="val 8276"/>
            </a:avLst>
          </a:prstGeom>
          <a:solidFill>
            <a:schemeClr val="bg1"/>
          </a:solidFill>
          <a:ln w="25400">
            <a:solidFill>
              <a:schemeClr val="accent6"/>
            </a:solidFill>
            <a:prstDash val="solid"/>
          </a:ln>
        </p:spPr>
      </p:sp>
      <p:sp>
        <p:nvSpPr>
          <p:cNvPr id="13" name="Text 11"/>
          <p:cNvSpPr txBox="1"/>
          <p:nvPr/>
        </p:nvSpPr>
        <p:spPr>
          <a:xfrm>
            <a:off x="777240" y="4892040"/>
            <a:ext cx="2194560" cy="50292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14 days</a:t>
            </a:r>
            <a:endParaRPr lang="en-US" sz="2600" dirty="0"/>
          </a:p>
        </p:txBody>
      </p:sp>
      <p:sp>
        <p:nvSpPr>
          <p:cNvPr id="14" name="Text 12"/>
          <p:cNvSpPr txBox="1"/>
          <p:nvPr/>
        </p:nvSpPr>
        <p:spPr>
          <a:xfrm>
            <a:off x="777240" y="5413248"/>
            <a:ext cx="2240280" cy="548640"/>
          </a:xfrm>
          <a:prstGeom prst="rect">
            <a:avLst/>
          </a:prstGeom>
          <a:noFill/>
          <a:ln/>
        </p:spPr>
        <p:txBody>
          <a:bodyPr wrap="square" lIns="0" tIns="0" rIns="0" bIns="0" rtlCol="0" anchor="t"/>
          <a:lstStyle/>
          <a:p>
            <a:pPr indent="0" marL="0">
              <a:buNone/>
            </a:pPr>
            <a:r>
              <a:rPr lang="en-US" sz="1400" dirty="0">
                <a:solidFill>
                  <a:schemeClr val="tx1"/>
                </a:solidFill>
              </a:rPr>
              <a:t>Sep 14 – 27, 2026</a:t>
            </a:r>
            <a:endParaRPr lang="en-US" sz="1400" dirty="0"/>
          </a:p>
        </p:txBody>
      </p:sp>
      <p:sp>
        <p:nvSpPr>
          <p:cNvPr id="15" name="Fact 39,228"/>
          <p:cNvSpPr/>
          <p:nvPr/>
        </p:nvSpPr>
        <p:spPr>
          <a:xfrm>
            <a:off x="3364992" y="4754880"/>
            <a:ext cx="2606040" cy="1325880"/>
          </a:xfrm>
          <a:prstGeom prst="roundRect">
            <a:avLst>
              <a:gd name="adj" fmla="val 8276"/>
            </a:avLst>
          </a:prstGeom>
          <a:solidFill>
            <a:schemeClr val="bg1"/>
          </a:solidFill>
          <a:ln w="25400">
            <a:solidFill>
              <a:schemeClr val="accent6"/>
            </a:solidFill>
            <a:prstDash val="solid"/>
          </a:ln>
        </p:spPr>
      </p:sp>
      <p:sp>
        <p:nvSpPr>
          <p:cNvPr id="16" name="Text 14"/>
          <p:cNvSpPr txBox="1"/>
          <p:nvPr/>
        </p:nvSpPr>
        <p:spPr>
          <a:xfrm>
            <a:off x="3593592" y="4892040"/>
            <a:ext cx="2194560" cy="50292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39,228</a:t>
            </a:r>
            <a:endParaRPr lang="en-US" sz="2600" dirty="0"/>
          </a:p>
        </p:txBody>
      </p:sp>
      <p:sp>
        <p:nvSpPr>
          <p:cNvPr id="17" name="Text 15"/>
          <p:cNvSpPr txBox="1"/>
          <p:nvPr/>
        </p:nvSpPr>
        <p:spPr>
          <a:xfrm>
            <a:off x="3593592" y="5413248"/>
            <a:ext cx="2240280" cy="548640"/>
          </a:xfrm>
          <a:prstGeom prst="rect">
            <a:avLst/>
          </a:prstGeom>
          <a:noFill/>
          <a:ln/>
        </p:spPr>
        <p:txBody>
          <a:bodyPr wrap="square" lIns="0" tIns="0" rIns="0" bIns="0" rtlCol="0" anchor="t"/>
          <a:lstStyle/>
          <a:p>
            <a:pPr indent="0" marL="0">
              <a:buNone/>
            </a:pPr>
            <a:r>
              <a:rPr lang="en-US" sz="1400" dirty="0">
                <a:solidFill>
                  <a:schemeClr val="tx1"/>
                </a:solidFill>
              </a:rPr>
              <a:t>visitors after cleaning</a:t>
            </a:r>
            <a:endParaRPr lang="en-US" sz="1400" dirty="0"/>
          </a:p>
        </p:txBody>
      </p:sp>
      <p:sp>
        <p:nvSpPr>
          <p:cNvPr id="18" name="Fact 50 / 50"/>
          <p:cNvSpPr/>
          <p:nvPr/>
        </p:nvSpPr>
        <p:spPr>
          <a:xfrm>
            <a:off x="6181344" y="4754880"/>
            <a:ext cx="2606040" cy="1325880"/>
          </a:xfrm>
          <a:prstGeom prst="roundRect">
            <a:avLst>
              <a:gd name="adj" fmla="val 8276"/>
            </a:avLst>
          </a:prstGeom>
          <a:solidFill>
            <a:schemeClr val="bg1"/>
          </a:solidFill>
          <a:ln w="25400">
            <a:solidFill>
              <a:schemeClr val="accent6"/>
            </a:solidFill>
            <a:prstDash val="solid"/>
          </a:ln>
        </p:spPr>
      </p:sp>
      <p:sp>
        <p:nvSpPr>
          <p:cNvPr id="19" name="Text 17"/>
          <p:cNvSpPr txBox="1"/>
          <p:nvPr/>
        </p:nvSpPr>
        <p:spPr>
          <a:xfrm>
            <a:off x="6409944" y="4892040"/>
            <a:ext cx="2194560" cy="50292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50 / 50</a:t>
            </a:r>
            <a:endParaRPr lang="en-US" sz="2600" dirty="0"/>
          </a:p>
        </p:txBody>
      </p:sp>
      <p:sp>
        <p:nvSpPr>
          <p:cNvPr id="20" name="Text 18"/>
          <p:cNvSpPr txBox="1"/>
          <p:nvPr/>
        </p:nvSpPr>
        <p:spPr>
          <a:xfrm>
            <a:off x="6409944" y="5413248"/>
            <a:ext cx="2240280" cy="548640"/>
          </a:xfrm>
          <a:prstGeom prst="rect">
            <a:avLst/>
          </a:prstGeom>
          <a:noFill/>
          <a:ln/>
        </p:spPr>
        <p:txBody>
          <a:bodyPr wrap="square" lIns="0" tIns="0" rIns="0" bIns="0" rtlCol="0" anchor="t"/>
          <a:lstStyle/>
          <a:p>
            <a:pPr indent="0" marL="0">
              <a:buNone/>
            </a:pPr>
            <a:r>
              <a:rPr lang="en-US" sz="1400" dirty="0">
                <a:solidFill>
                  <a:schemeClr val="tx1"/>
                </a:solidFill>
              </a:rPr>
              <a:t>random split</a:t>
            </a:r>
            <a:endParaRPr lang="en-US" sz="1400" dirty="0"/>
          </a:p>
        </p:txBody>
      </p:sp>
      <p:sp>
        <p:nvSpPr>
          <p:cNvPr id="21" name="Fact +10%"/>
          <p:cNvSpPr/>
          <p:nvPr/>
        </p:nvSpPr>
        <p:spPr>
          <a:xfrm>
            <a:off x="8997696" y="4754880"/>
            <a:ext cx="2606040" cy="1325880"/>
          </a:xfrm>
          <a:prstGeom prst="roundRect">
            <a:avLst>
              <a:gd name="adj" fmla="val 8276"/>
            </a:avLst>
          </a:prstGeom>
          <a:solidFill>
            <a:schemeClr val="bg1"/>
          </a:solidFill>
          <a:ln w="25400">
            <a:solidFill>
              <a:schemeClr val="accent6"/>
            </a:solidFill>
            <a:prstDash val="solid"/>
          </a:ln>
        </p:spPr>
      </p:sp>
      <p:sp>
        <p:nvSpPr>
          <p:cNvPr id="22" name="Text 20"/>
          <p:cNvSpPr txBox="1"/>
          <p:nvPr/>
        </p:nvSpPr>
        <p:spPr>
          <a:xfrm>
            <a:off x="9226296" y="4892040"/>
            <a:ext cx="2194560" cy="50292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+10%</a:t>
            </a:r>
            <a:endParaRPr lang="en-US" sz="2600" dirty="0"/>
          </a:p>
        </p:txBody>
      </p:sp>
      <p:sp>
        <p:nvSpPr>
          <p:cNvPr id="23" name="Text 21"/>
          <p:cNvSpPr txBox="1"/>
          <p:nvPr/>
        </p:nvSpPr>
        <p:spPr>
          <a:xfrm>
            <a:off x="9226296" y="5413248"/>
            <a:ext cx="2240280" cy="548640"/>
          </a:xfrm>
          <a:prstGeom prst="rect">
            <a:avLst/>
          </a:prstGeom>
          <a:noFill/>
          <a:ln/>
        </p:spPr>
        <p:txBody>
          <a:bodyPr wrap="square" lIns="0" tIns="0" rIns="0" bIns="0" rtlCol="0" anchor="t"/>
          <a:lstStyle/>
          <a:p>
            <a:pPr indent="0" marL="0">
              <a:buNone/>
            </a:pPr>
            <a:r>
              <a:rPr lang="en-US" sz="1400" dirty="0">
                <a:solidFill>
                  <a:schemeClr val="tx1"/>
                </a:solidFill>
              </a:rPr>
              <a:t>smallest lift worth shipping, set in advance</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New Display Lifted First Orders 17%</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indent="0" marL="0">
              <a:buNone/>
            </a:pPr>
            <a:r>
              <a:rPr lang="en-US" sz="1600" i="1" dirty="0">
                <a:solidFill>
                  <a:schemeClr val="accent5"/>
                </a:solidFill>
              </a:rPr>
              <a:t>Visitors who saw “$9.99 / serving” placed more first orders and spent more</a:t>
            </a:r>
            <a:endParaRPr lang="en-US" sz="1600" dirty="0"/>
          </a:p>
        </p:txBody>
      </p:sp>
      <p:sp>
        <p:nvSpPr>
          <p:cNvPr id="4" name="Stat +17%"/>
          <p:cNvSpPr/>
          <p:nvPr/>
        </p:nvSpPr>
        <p:spPr>
          <a:xfrm>
            <a:off x="548640" y="1783080"/>
            <a:ext cx="3547872" cy="3108960"/>
          </a:xfrm>
          <a:prstGeom prst="roundRect">
            <a:avLst>
              <a:gd name="adj" fmla="val 3529"/>
            </a:avLst>
          </a:prstGeom>
          <a:solidFill>
            <a:schemeClr val="bg2"/>
          </a:solidFill>
          <a:ln w="12700">
            <a:solidFill>
              <a:schemeClr val="bg2"/>
            </a:solidFill>
            <a:prstDash val="solid"/>
          </a:ln>
        </p:spPr>
      </p:sp>
      <p:sp>
        <p:nvSpPr>
          <p:cNvPr id="5" name="Text 3"/>
          <p:cNvSpPr txBox="1"/>
          <p:nvPr/>
        </p:nvSpPr>
        <p:spPr>
          <a:xfrm>
            <a:off x="868680" y="2103120"/>
            <a:ext cx="2926080" cy="914400"/>
          </a:xfrm>
          <a:prstGeom prst="rect">
            <a:avLst/>
          </a:prstGeom>
          <a:noFill/>
          <a:ln/>
        </p:spPr>
        <p:txBody>
          <a:bodyPr wrap="square" lIns="0" tIns="0" rIns="0" bIns="0" rtlCol="0" anchor="ctr"/>
          <a:lstStyle/>
          <a:p>
            <a:pPr indent="0" marL="0">
              <a:buNone/>
            </a:pPr>
            <a:r>
              <a:rPr lang="en-US" sz="4800" b="1" dirty="0">
                <a:solidFill>
                  <a:schemeClr val="tx2"/>
                </a:solidFill>
                <a:latin typeface="Cambria" pitchFamily="34" charset="0"/>
                <a:ea typeface="Cambria" pitchFamily="34" charset="-122"/>
                <a:cs typeface="Cambria" pitchFamily="34" charset="-120"/>
              </a:rPr>
              <a:t>+17%</a:t>
            </a:r>
            <a:endParaRPr lang="en-US" sz="4800" dirty="0"/>
          </a:p>
        </p:txBody>
      </p:sp>
      <p:sp>
        <p:nvSpPr>
          <p:cNvPr id="6" name="Text 4"/>
          <p:cNvSpPr txBox="1"/>
          <p:nvPr/>
        </p:nvSpPr>
        <p:spPr>
          <a:xfrm>
            <a:off x="868680" y="3154680"/>
            <a:ext cx="2926080" cy="685800"/>
          </a:xfrm>
          <a:prstGeom prst="rect">
            <a:avLst/>
          </a:prstGeom>
          <a:noFill/>
          <a:ln/>
        </p:spPr>
        <p:txBody>
          <a:bodyPr wrap="square" lIns="0" tIns="0" rIns="0" bIns="0" rtlCol="0" anchor="t"/>
          <a:lstStyle/>
          <a:p>
            <a:pPr indent="0" marL="0">
              <a:buNone/>
            </a:pPr>
            <a:r>
              <a:rPr lang="en-US" sz="1800" b="1" dirty="0">
                <a:solidFill>
                  <a:schemeClr val="tx1"/>
                </a:solidFill>
              </a:rPr>
              <a:t>more first orders</a:t>
            </a:r>
            <a:endParaRPr lang="en-US" sz="1800" dirty="0"/>
          </a:p>
        </p:txBody>
      </p:sp>
      <p:sp>
        <p:nvSpPr>
          <p:cNvPr id="7" name="Text 5"/>
          <p:cNvSpPr txBox="1"/>
          <p:nvPr/>
        </p:nvSpPr>
        <p:spPr>
          <a:xfrm>
            <a:off x="868680" y="3931920"/>
            <a:ext cx="2926080" cy="731520"/>
          </a:xfrm>
          <a:prstGeom prst="rect">
            <a:avLst/>
          </a:prstGeom>
          <a:noFill/>
          <a:ln/>
        </p:spPr>
        <p:txBody>
          <a:bodyPr wrap="square" lIns="0" tIns="0" rIns="0" bIns="0" rtlCol="0" anchor="t"/>
          <a:lstStyle/>
          <a:p>
            <a:pPr indent="0" marL="0">
              <a:buNone/>
            </a:pPr>
            <a:r>
              <a:rPr lang="en-US" sz="1400" dirty="0">
                <a:solidFill>
                  <a:schemeClr val="accent5"/>
                </a:solidFill>
              </a:rPr>
              <a:t>4.87% → 5.70% of visitors ordered</a:t>
            </a:r>
            <a:endParaRPr lang="en-US" sz="1400" dirty="0"/>
          </a:p>
        </p:txBody>
      </p:sp>
      <p:sp>
        <p:nvSpPr>
          <p:cNvPr id="8" name="Stat +$905"/>
          <p:cNvSpPr/>
          <p:nvPr/>
        </p:nvSpPr>
        <p:spPr>
          <a:xfrm>
            <a:off x="4306824" y="1783080"/>
            <a:ext cx="3547872" cy="3108960"/>
          </a:xfrm>
          <a:prstGeom prst="roundRect">
            <a:avLst>
              <a:gd name="adj" fmla="val 3529"/>
            </a:avLst>
          </a:prstGeom>
          <a:solidFill>
            <a:schemeClr val="bg2"/>
          </a:solidFill>
          <a:ln w="12700">
            <a:solidFill>
              <a:schemeClr val="bg2"/>
            </a:solidFill>
            <a:prstDash val="solid"/>
          </a:ln>
        </p:spPr>
      </p:sp>
      <p:sp>
        <p:nvSpPr>
          <p:cNvPr id="9" name="Text 7"/>
          <p:cNvSpPr txBox="1"/>
          <p:nvPr/>
        </p:nvSpPr>
        <p:spPr>
          <a:xfrm>
            <a:off x="4626864" y="2103120"/>
            <a:ext cx="2926080" cy="914400"/>
          </a:xfrm>
          <a:prstGeom prst="rect">
            <a:avLst/>
          </a:prstGeom>
          <a:noFill/>
          <a:ln/>
        </p:spPr>
        <p:txBody>
          <a:bodyPr wrap="square" lIns="0" tIns="0" rIns="0" bIns="0" rtlCol="0" anchor="ctr"/>
          <a:lstStyle/>
          <a:p>
            <a:pPr indent="0" marL="0">
              <a:buNone/>
            </a:pPr>
            <a:r>
              <a:rPr lang="en-US" sz="4800" b="1" dirty="0">
                <a:solidFill>
                  <a:schemeClr val="tx2"/>
                </a:solidFill>
                <a:latin typeface="Cambria" pitchFamily="34" charset="0"/>
                <a:ea typeface="Cambria" pitchFamily="34" charset="-122"/>
                <a:cs typeface="Cambria" pitchFamily="34" charset="-120"/>
              </a:rPr>
              <a:t>+$905</a:t>
            </a:r>
            <a:endParaRPr lang="en-US" sz="4800" dirty="0"/>
          </a:p>
        </p:txBody>
      </p:sp>
      <p:sp>
        <p:nvSpPr>
          <p:cNvPr id="10" name="Text 8"/>
          <p:cNvSpPr txBox="1"/>
          <p:nvPr/>
        </p:nvSpPr>
        <p:spPr>
          <a:xfrm>
            <a:off x="4626864" y="3154680"/>
            <a:ext cx="2926080" cy="685800"/>
          </a:xfrm>
          <a:prstGeom prst="rect">
            <a:avLst/>
          </a:prstGeom>
          <a:noFill/>
          <a:ln/>
        </p:spPr>
        <p:txBody>
          <a:bodyPr wrap="square" lIns="0" tIns="0" rIns="0" bIns="0" rtlCol="0" anchor="t"/>
          <a:lstStyle/>
          <a:p>
            <a:pPr indent="0" marL="0">
              <a:buNone/>
            </a:pPr>
            <a:r>
              <a:rPr lang="en-US" sz="1800" b="1" dirty="0">
                <a:solidFill>
                  <a:schemeClr val="tx1"/>
                </a:solidFill>
              </a:rPr>
              <a:t>first-box revenue per 1,000 visitors</a:t>
            </a:r>
            <a:endParaRPr lang="en-US" sz="1800" dirty="0"/>
          </a:p>
        </p:txBody>
      </p:sp>
      <p:sp>
        <p:nvSpPr>
          <p:cNvPr id="11" name="Text 9"/>
          <p:cNvSpPr txBox="1"/>
          <p:nvPr/>
        </p:nvSpPr>
        <p:spPr>
          <a:xfrm>
            <a:off x="4626864" y="3931920"/>
            <a:ext cx="2926080" cy="731520"/>
          </a:xfrm>
          <a:prstGeom prst="rect">
            <a:avLst/>
          </a:prstGeom>
          <a:noFill/>
          <a:ln/>
        </p:spPr>
        <p:txBody>
          <a:bodyPr wrap="square" lIns="0" tIns="0" rIns="0" bIns="0" rtlCol="0" anchor="t"/>
          <a:lstStyle/>
          <a:p>
            <a:pPr indent="0" marL="0">
              <a:buNone/>
            </a:pPr>
            <a:r>
              <a:rPr lang="en-US" sz="1400" dirty="0">
                <a:solidFill>
                  <a:schemeClr val="accent5"/>
                </a:solidFill>
              </a:rPr>
              <a:t>95% range: +$492 to +$1,317</a:t>
            </a:r>
            <a:endParaRPr lang="en-US" sz="1400" dirty="0"/>
          </a:p>
        </p:txBody>
      </p:sp>
      <p:sp>
        <p:nvSpPr>
          <p:cNvPr id="12" name="Stat 1 in 4,500"/>
          <p:cNvSpPr/>
          <p:nvPr/>
        </p:nvSpPr>
        <p:spPr>
          <a:xfrm>
            <a:off x="8065008" y="1783080"/>
            <a:ext cx="3547872" cy="3108960"/>
          </a:xfrm>
          <a:prstGeom prst="roundRect">
            <a:avLst>
              <a:gd name="adj" fmla="val 3529"/>
            </a:avLst>
          </a:prstGeom>
          <a:solidFill>
            <a:schemeClr val="bg2"/>
          </a:solidFill>
          <a:ln w="12700">
            <a:solidFill>
              <a:schemeClr val="bg2"/>
            </a:solidFill>
            <a:prstDash val="solid"/>
          </a:ln>
        </p:spPr>
      </p:sp>
      <p:sp>
        <p:nvSpPr>
          <p:cNvPr id="13" name="Text 11"/>
          <p:cNvSpPr txBox="1"/>
          <p:nvPr/>
        </p:nvSpPr>
        <p:spPr>
          <a:xfrm>
            <a:off x="8385048" y="2103120"/>
            <a:ext cx="2926080" cy="914400"/>
          </a:xfrm>
          <a:prstGeom prst="rect">
            <a:avLst/>
          </a:prstGeom>
          <a:noFill/>
          <a:ln/>
        </p:spPr>
        <p:txBody>
          <a:bodyPr wrap="square" lIns="0" tIns="0" rIns="0" bIns="0" rtlCol="0" anchor="ctr"/>
          <a:lstStyle/>
          <a:p>
            <a:pPr indent="0" marL="0">
              <a:buNone/>
            </a:pPr>
            <a:r>
              <a:rPr lang="en-US" sz="4800" b="1" dirty="0">
                <a:solidFill>
                  <a:schemeClr val="tx2"/>
                </a:solidFill>
                <a:latin typeface="Cambria" pitchFamily="34" charset="0"/>
                <a:ea typeface="Cambria" pitchFamily="34" charset="-122"/>
                <a:cs typeface="Cambria" pitchFamily="34" charset="-120"/>
              </a:rPr>
              <a:t>1 in 4,500</a:t>
            </a:r>
            <a:endParaRPr lang="en-US" sz="4800" dirty="0"/>
          </a:p>
        </p:txBody>
      </p:sp>
      <p:sp>
        <p:nvSpPr>
          <p:cNvPr id="14" name="Text 12"/>
          <p:cNvSpPr txBox="1"/>
          <p:nvPr/>
        </p:nvSpPr>
        <p:spPr>
          <a:xfrm>
            <a:off x="8385048" y="3154680"/>
            <a:ext cx="2926080" cy="685800"/>
          </a:xfrm>
          <a:prstGeom prst="rect">
            <a:avLst/>
          </a:prstGeom>
          <a:noFill/>
          <a:ln/>
        </p:spPr>
        <p:txBody>
          <a:bodyPr wrap="square" lIns="0" tIns="0" rIns="0" bIns="0" rtlCol="0" anchor="t"/>
          <a:lstStyle/>
          <a:p>
            <a:pPr indent="0" marL="0">
              <a:buNone/>
            </a:pPr>
            <a:r>
              <a:rPr lang="en-US" sz="1800" b="1" dirty="0">
                <a:solidFill>
                  <a:schemeClr val="tx1"/>
                </a:solidFill>
              </a:rPr>
              <a:t>odds that luck alone explains the gap</a:t>
            </a:r>
            <a:endParaRPr lang="en-US" sz="1800" dirty="0"/>
          </a:p>
        </p:txBody>
      </p:sp>
      <p:sp>
        <p:nvSpPr>
          <p:cNvPr id="15" name="Text 13"/>
          <p:cNvSpPr txBox="1"/>
          <p:nvPr/>
        </p:nvSpPr>
        <p:spPr>
          <a:xfrm>
            <a:off x="8385048" y="3931920"/>
            <a:ext cx="2926080" cy="731520"/>
          </a:xfrm>
          <a:prstGeom prst="rect">
            <a:avLst/>
          </a:prstGeom>
          <a:noFill/>
          <a:ln/>
        </p:spPr>
        <p:txBody>
          <a:bodyPr wrap="square" lIns="0" tIns="0" rIns="0" bIns="0" rtlCol="0" anchor="t"/>
          <a:lstStyle/>
          <a:p>
            <a:pPr indent="0" marL="0">
              <a:buNone/>
            </a:pPr>
            <a:r>
              <a:rPr lang="en-US" sz="1400" dirty="0">
                <a:solidFill>
                  <a:schemeClr val="accent5"/>
                </a:solidFill>
              </a:rPr>
              <a:t>For revenue: about 1 in 58,000</a:t>
            </a:r>
            <a:endParaRPr lang="en-US" sz="1400" dirty="0"/>
          </a:p>
        </p:txBody>
      </p:sp>
      <p:sp>
        <p:nvSpPr>
          <p:cNvPr id="16" name="Caution circle"/>
          <p:cNvSpPr/>
          <p:nvPr/>
        </p:nvSpPr>
        <p:spPr>
          <a:xfrm>
            <a:off x="548640" y="5257800"/>
            <a:ext cx="548640" cy="548640"/>
          </a:xfrm>
          <a:prstGeom prst="ellipse">
            <a:avLst/>
          </a:prstGeom>
          <a:solidFill>
            <a:schemeClr val="accent3"/>
          </a:solidFill>
          <a:ln w="12700">
            <a:solidFill>
              <a:schemeClr val="accent3"/>
            </a:solidFill>
            <a:prstDash val="solid"/>
          </a:ln>
        </p:spPr>
      </p:sp>
      <p:pic>
        <p:nvPicPr>
          <p:cNvPr id="17" name="Caution icon" descr="preencoded.png">    </p:cNvPr>
          <p:cNvPicPr>
            <a:picLocks noChangeAspect="1"/>
          </p:cNvPicPr>
          <p:nvPr/>
        </p:nvPicPr>
        <p:blipFill>
          <a:blip r:embed="rId1"/>
          <a:stretch>
            <a:fillRect/>
          </a:stretch>
        </p:blipFill>
        <p:spPr>
          <a:xfrm>
            <a:off x="685800" y="5394960"/>
            <a:ext cx="274320" cy="274320"/>
          </a:xfrm>
          <a:prstGeom prst="rect">
            <a:avLst/>
          </a:prstGeom>
        </p:spPr>
      </p:pic>
      <p:sp>
        <p:nvSpPr>
          <p:cNvPr id="18" name="Text 15"/>
          <p:cNvSpPr txBox="1"/>
          <p:nvPr/>
        </p:nvSpPr>
        <p:spPr>
          <a:xfrm>
            <a:off x="1280160" y="5257800"/>
            <a:ext cx="10332720" cy="548640"/>
          </a:xfrm>
          <a:prstGeom prst="rect">
            <a:avLst/>
          </a:prstGeom>
          <a:noFill/>
          <a:ln/>
        </p:spPr>
        <p:txBody>
          <a:bodyPr wrap="square" lIns="0" tIns="0" rIns="0" bIns="0" rtlCol="0" anchor="ctr"/>
          <a:lstStyle/>
          <a:p>
            <a:pPr indent="0" marL="0">
              <a:buNone/>
            </a:pPr>
            <a:r>
              <a:rPr lang="en-US" sz="1600" b="1" dirty="0">
                <a:solidFill>
                  <a:schemeClr val="tx1"/>
                </a:solidFill>
              </a:rPr>
              <a:t>But: </a:t>
            </a:r>
            <a:pPr indent="0" marL="0">
              <a:buNone/>
            </a:pPr>
            <a:r>
              <a:rPr lang="en-US" sz="1600" dirty="0">
                <a:solidFill>
                  <a:schemeClr val="tx1"/>
                </a:solidFill>
              </a:rPr>
              <a:t>the next slides show why the true long-term gain is likely closer to the low end of these ranges.</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Data Passed Every Trust Check</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indent="0" marL="0">
              <a:buNone/>
            </a:pPr>
            <a:r>
              <a:rPr lang="en-US" sz="1600" i="1" dirty="0">
                <a:solidFill>
                  <a:schemeClr val="accent5"/>
                </a:solidFill>
              </a:rPr>
              <a:t>Fixed what was broken, then confirmed the two groups were comparable</a:t>
            </a:r>
            <a:endParaRPr lang="en-US" sz="1600" dirty="0"/>
          </a:p>
        </p:txBody>
      </p:sp>
      <p:sp>
        <p:nvSpPr>
          <p:cNvPr id="4" name="118 duplicate events card"/>
          <p:cNvSpPr/>
          <p:nvPr/>
        </p:nvSpPr>
        <p:spPr>
          <a:xfrm>
            <a:off x="548640" y="1737360"/>
            <a:ext cx="5394960" cy="2011680"/>
          </a:xfrm>
          <a:prstGeom prst="roundRect">
            <a:avLst>
              <a:gd name="adj" fmla="val 5455"/>
            </a:avLst>
          </a:prstGeom>
          <a:solidFill>
            <a:schemeClr val="bg2"/>
          </a:solidFill>
          <a:ln w="12700">
            <a:solidFill>
              <a:schemeClr val="bg2"/>
            </a:solidFill>
            <a:prstDash val="solid"/>
          </a:ln>
        </p:spPr>
      </p:sp>
      <p:sp>
        <p:nvSpPr>
          <p:cNvPr id="5" name="118 duplicate events circle"/>
          <p:cNvSpPr/>
          <p:nvPr/>
        </p:nvSpPr>
        <p:spPr>
          <a:xfrm>
            <a:off x="868680" y="2103120"/>
            <a:ext cx="777240" cy="777240"/>
          </a:xfrm>
          <a:prstGeom prst="ellipse">
            <a:avLst/>
          </a:prstGeom>
          <a:solidFill>
            <a:schemeClr val="accent2"/>
          </a:solidFill>
          <a:ln w="12700">
            <a:solidFill>
              <a:schemeClr val="accent2"/>
            </a:solidFill>
            <a:prstDash val="solid"/>
          </a:ln>
        </p:spPr>
      </p:sp>
      <p:pic>
        <p:nvPicPr>
          <p:cNvPr id="6" name="118 duplicate events icon" descr="preencoded.png">    </p:cNvPr>
          <p:cNvPicPr>
            <a:picLocks noChangeAspect="1"/>
          </p:cNvPicPr>
          <p:nvPr/>
        </p:nvPicPr>
        <p:blipFill>
          <a:blip r:embed="rId1"/>
          <a:stretch>
            <a:fillRect/>
          </a:stretch>
        </p:blipFill>
        <p:spPr>
          <a:xfrm>
            <a:off x="1062990" y="2297430"/>
            <a:ext cx="388620" cy="388620"/>
          </a:xfrm>
          <a:prstGeom prst="rect">
            <a:avLst/>
          </a:prstGeom>
        </p:spPr>
      </p:pic>
      <p:sp>
        <p:nvSpPr>
          <p:cNvPr id="7" name="Text 4"/>
          <p:cNvSpPr txBox="1"/>
          <p:nvPr/>
        </p:nvSpPr>
        <p:spPr>
          <a:xfrm>
            <a:off x="1920240" y="2084832"/>
            <a:ext cx="3749040" cy="411480"/>
          </a:xfrm>
          <a:prstGeom prst="rect">
            <a:avLst/>
          </a:prstGeom>
          <a:noFill/>
          <a:ln/>
        </p:spPr>
        <p:txBody>
          <a:bodyPr wrap="square" lIns="0" tIns="0" rIns="0" bIns="0" rtlCol="0" anchor="t"/>
          <a:lstStyle/>
          <a:p>
            <a:pPr indent="0" marL="0">
              <a:buNone/>
            </a:pPr>
            <a:r>
              <a:rPr lang="en-US" sz="2000" b="1" dirty="0">
                <a:solidFill>
                  <a:schemeClr val="tx2"/>
                </a:solidFill>
              </a:rPr>
              <a:t>118 duplicate events</a:t>
            </a:r>
            <a:endParaRPr lang="en-US" sz="2000" dirty="0"/>
          </a:p>
        </p:txBody>
      </p:sp>
      <p:sp>
        <p:nvSpPr>
          <p:cNvPr id="8" name="Text 5"/>
          <p:cNvSpPr txBox="1"/>
          <p:nvPr/>
        </p:nvSpPr>
        <p:spPr>
          <a:xfrm>
            <a:off x="1920240" y="2578608"/>
            <a:ext cx="3749040" cy="1005840"/>
          </a:xfrm>
          <a:prstGeom prst="rect">
            <a:avLst/>
          </a:prstGeom>
          <a:noFill/>
          <a:ln/>
        </p:spPr>
        <p:txBody>
          <a:bodyPr wrap="square" lIns="0" tIns="0" rIns="0" bIns="0" rtlCol="0" anchor="t"/>
          <a:lstStyle/>
          <a:p>
            <a:pPr indent="0" marL="0">
              <a:buNone/>
            </a:pPr>
            <a:r>
              <a:rPr lang="en-US" sz="1500" dirty="0">
                <a:solidFill>
                  <a:schemeClr val="tx1"/>
                </a:solidFill>
              </a:rPr>
              <a:t>The same visitor was logged twice; kept the first record.</a:t>
            </a:r>
            <a:endParaRPr lang="en-US" sz="1500" dirty="0"/>
          </a:p>
        </p:txBody>
      </p:sp>
      <p:sp>
        <p:nvSpPr>
          <p:cNvPr id="9" name="193 missing devices card"/>
          <p:cNvSpPr/>
          <p:nvPr/>
        </p:nvSpPr>
        <p:spPr>
          <a:xfrm>
            <a:off x="6217920" y="1737360"/>
            <a:ext cx="5394960" cy="2011680"/>
          </a:xfrm>
          <a:prstGeom prst="roundRect">
            <a:avLst>
              <a:gd name="adj" fmla="val 5455"/>
            </a:avLst>
          </a:prstGeom>
          <a:solidFill>
            <a:schemeClr val="bg2"/>
          </a:solidFill>
          <a:ln w="12700">
            <a:solidFill>
              <a:schemeClr val="bg2"/>
            </a:solidFill>
            <a:prstDash val="solid"/>
          </a:ln>
        </p:spPr>
      </p:sp>
      <p:sp>
        <p:nvSpPr>
          <p:cNvPr id="10" name="193 missing devices circle"/>
          <p:cNvSpPr/>
          <p:nvPr/>
        </p:nvSpPr>
        <p:spPr>
          <a:xfrm>
            <a:off x="6537960" y="2103120"/>
            <a:ext cx="777240" cy="777240"/>
          </a:xfrm>
          <a:prstGeom prst="ellipse">
            <a:avLst/>
          </a:prstGeom>
          <a:solidFill>
            <a:schemeClr val="accent2"/>
          </a:solidFill>
          <a:ln w="12700">
            <a:solidFill>
              <a:schemeClr val="accent2"/>
            </a:solidFill>
            <a:prstDash val="solid"/>
          </a:ln>
        </p:spPr>
      </p:sp>
      <p:pic>
        <p:nvPicPr>
          <p:cNvPr id="11" name="193 missing devices icon" descr="preencoded.png">    </p:cNvPr>
          <p:cNvPicPr>
            <a:picLocks noChangeAspect="1"/>
          </p:cNvPicPr>
          <p:nvPr/>
        </p:nvPicPr>
        <p:blipFill>
          <a:blip r:embed="rId2"/>
          <a:stretch>
            <a:fillRect/>
          </a:stretch>
        </p:blipFill>
        <p:spPr>
          <a:xfrm>
            <a:off x="6732270" y="2297430"/>
            <a:ext cx="388620" cy="388620"/>
          </a:xfrm>
          <a:prstGeom prst="rect">
            <a:avLst/>
          </a:prstGeom>
        </p:spPr>
      </p:pic>
      <p:sp>
        <p:nvSpPr>
          <p:cNvPr id="12" name="Text 8"/>
          <p:cNvSpPr txBox="1"/>
          <p:nvPr/>
        </p:nvSpPr>
        <p:spPr>
          <a:xfrm>
            <a:off x="7589520" y="2084832"/>
            <a:ext cx="3749040" cy="411480"/>
          </a:xfrm>
          <a:prstGeom prst="rect">
            <a:avLst/>
          </a:prstGeom>
          <a:noFill/>
          <a:ln/>
        </p:spPr>
        <p:txBody>
          <a:bodyPr wrap="square" lIns="0" tIns="0" rIns="0" bIns="0" rtlCol="0" anchor="t"/>
          <a:lstStyle/>
          <a:p>
            <a:pPr indent="0" marL="0">
              <a:buNone/>
            </a:pPr>
            <a:r>
              <a:rPr lang="en-US" sz="2000" b="1" dirty="0">
                <a:solidFill>
                  <a:schemeClr val="tx2"/>
                </a:solidFill>
              </a:rPr>
              <a:t>193 missing devices</a:t>
            </a:r>
            <a:endParaRPr lang="en-US" sz="2000" dirty="0"/>
          </a:p>
        </p:txBody>
      </p:sp>
      <p:sp>
        <p:nvSpPr>
          <p:cNvPr id="13" name="Text 9"/>
          <p:cNvSpPr txBox="1"/>
          <p:nvPr/>
        </p:nvSpPr>
        <p:spPr>
          <a:xfrm>
            <a:off x="7589520" y="2578608"/>
            <a:ext cx="3749040" cy="1005840"/>
          </a:xfrm>
          <a:prstGeom prst="rect">
            <a:avLst/>
          </a:prstGeom>
          <a:noFill/>
          <a:ln/>
        </p:spPr>
        <p:txBody>
          <a:bodyPr wrap="square" lIns="0" tIns="0" rIns="0" bIns="0" rtlCol="0" anchor="t"/>
          <a:lstStyle/>
          <a:p>
            <a:pPr indent="0" marL="0">
              <a:buNone/>
            </a:pPr>
            <a:r>
              <a:rPr lang="en-US" sz="1500" dirty="0">
                <a:solidFill>
                  <a:schemeClr val="tx1"/>
                </a:solidFill>
              </a:rPr>
              <a:t>Kept in the overall test, labeled “unknown”, and left out only of device comparisons.</a:t>
            </a:r>
            <a:endParaRPr lang="en-US" sz="1500" dirty="0"/>
          </a:p>
        </p:txBody>
      </p:sp>
      <p:sp>
        <p:nvSpPr>
          <p:cNvPr id="14" name="31 orders with no checkout event card"/>
          <p:cNvSpPr/>
          <p:nvPr/>
        </p:nvSpPr>
        <p:spPr>
          <a:xfrm>
            <a:off x="548640" y="3977640"/>
            <a:ext cx="5394960" cy="2011680"/>
          </a:xfrm>
          <a:prstGeom prst="roundRect">
            <a:avLst>
              <a:gd name="adj" fmla="val 5455"/>
            </a:avLst>
          </a:prstGeom>
          <a:solidFill>
            <a:schemeClr val="bg2"/>
          </a:solidFill>
          <a:ln w="12700">
            <a:solidFill>
              <a:schemeClr val="bg2"/>
            </a:solidFill>
            <a:prstDash val="solid"/>
          </a:ln>
        </p:spPr>
      </p:sp>
      <p:sp>
        <p:nvSpPr>
          <p:cNvPr id="15" name="31 orders with no checkout event circle"/>
          <p:cNvSpPr/>
          <p:nvPr/>
        </p:nvSpPr>
        <p:spPr>
          <a:xfrm>
            <a:off x="868680" y="4343400"/>
            <a:ext cx="777240" cy="777240"/>
          </a:xfrm>
          <a:prstGeom prst="ellipse">
            <a:avLst/>
          </a:prstGeom>
          <a:solidFill>
            <a:schemeClr val="accent2"/>
          </a:solidFill>
          <a:ln w="12700">
            <a:solidFill>
              <a:schemeClr val="accent2"/>
            </a:solidFill>
            <a:prstDash val="solid"/>
          </a:ln>
        </p:spPr>
      </p:sp>
      <p:pic>
        <p:nvPicPr>
          <p:cNvPr id="16" name="31 orders with no checkout event icon" descr="preencoded.png">    </p:cNvPr>
          <p:cNvPicPr>
            <a:picLocks noChangeAspect="1"/>
          </p:cNvPicPr>
          <p:nvPr/>
        </p:nvPicPr>
        <p:blipFill>
          <a:blip r:embed="rId3"/>
          <a:stretch>
            <a:fillRect/>
          </a:stretch>
        </p:blipFill>
        <p:spPr>
          <a:xfrm>
            <a:off x="1062990" y="4537710"/>
            <a:ext cx="388620" cy="388620"/>
          </a:xfrm>
          <a:prstGeom prst="rect">
            <a:avLst/>
          </a:prstGeom>
        </p:spPr>
      </p:pic>
      <p:sp>
        <p:nvSpPr>
          <p:cNvPr id="17" name="Text 12"/>
          <p:cNvSpPr txBox="1"/>
          <p:nvPr/>
        </p:nvSpPr>
        <p:spPr>
          <a:xfrm>
            <a:off x="1920240" y="4325112"/>
            <a:ext cx="3749040" cy="411480"/>
          </a:xfrm>
          <a:prstGeom prst="rect">
            <a:avLst/>
          </a:prstGeom>
          <a:noFill/>
          <a:ln/>
        </p:spPr>
        <p:txBody>
          <a:bodyPr wrap="square" lIns="0" tIns="0" rIns="0" bIns="0" rtlCol="0" anchor="t"/>
          <a:lstStyle/>
          <a:p>
            <a:pPr indent="0" marL="0">
              <a:buNone/>
            </a:pPr>
            <a:r>
              <a:rPr lang="en-US" sz="2000" b="1" dirty="0">
                <a:solidFill>
                  <a:schemeClr val="tx2"/>
                </a:solidFill>
              </a:rPr>
              <a:t>31 orders with no checkout event</a:t>
            </a:r>
            <a:endParaRPr lang="en-US" sz="2000" dirty="0"/>
          </a:p>
        </p:txBody>
      </p:sp>
      <p:sp>
        <p:nvSpPr>
          <p:cNvPr id="18" name="Text 13"/>
          <p:cNvSpPr txBox="1"/>
          <p:nvPr/>
        </p:nvSpPr>
        <p:spPr>
          <a:xfrm>
            <a:off x="1920240" y="4818888"/>
            <a:ext cx="3749040" cy="1005840"/>
          </a:xfrm>
          <a:prstGeom prst="rect">
            <a:avLst/>
          </a:prstGeom>
          <a:noFill/>
          <a:ln/>
        </p:spPr>
        <p:txBody>
          <a:bodyPr wrap="square" lIns="0" tIns="0" rIns="0" bIns="0" rtlCol="0" anchor="t"/>
          <a:lstStyle/>
          <a:p>
            <a:pPr indent="0" marL="0">
              <a:buNone/>
            </a:pPr>
            <a:r>
              <a:rPr lang="en-US" sz="1500" dirty="0">
                <a:solidFill>
                  <a:schemeClr val="tx1"/>
                </a:solidFill>
              </a:rPr>
              <a:t>A tracking bug: an order proves checkout happened, so these were repaired, not dropped.</a:t>
            </a:r>
            <a:endParaRPr lang="en-US" sz="1500" dirty="0"/>
          </a:p>
        </p:txBody>
      </p:sp>
      <p:sp>
        <p:nvSpPr>
          <p:cNvPr id="19" name="Randomization held card"/>
          <p:cNvSpPr/>
          <p:nvPr/>
        </p:nvSpPr>
        <p:spPr>
          <a:xfrm>
            <a:off x="6217920" y="3977640"/>
            <a:ext cx="5394960" cy="2011680"/>
          </a:xfrm>
          <a:prstGeom prst="roundRect">
            <a:avLst>
              <a:gd name="adj" fmla="val 5455"/>
            </a:avLst>
          </a:prstGeom>
          <a:solidFill>
            <a:schemeClr val="bg2"/>
          </a:solidFill>
          <a:ln w="12700">
            <a:solidFill>
              <a:schemeClr val="bg2"/>
            </a:solidFill>
            <a:prstDash val="solid"/>
          </a:ln>
        </p:spPr>
      </p:sp>
      <p:sp>
        <p:nvSpPr>
          <p:cNvPr id="20" name="Randomization held circle"/>
          <p:cNvSpPr/>
          <p:nvPr/>
        </p:nvSpPr>
        <p:spPr>
          <a:xfrm>
            <a:off x="6537960" y="4343400"/>
            <a:ext cx="777240" cy="777240"/>
          </a:xfrm>
          <a:prstGeom prst="ellipse">
            <a:avLst/>
          </a:prstGeom>
          <a:solidFill>
            <a:schemeClr val="accent1"/>
          </a:solidFill>
          <a:ln w="12700">
            <a:solidFill>
              <a:schemeClr val="accent1"/>
            </a:solidFill>
            <a:prstDash val="solid"/>
          </a:ln>
        </p:spPr>
      </p:sp>
      <p:pic>
        <p:nvPicPr>
          <p:cNvPr id="21" name="Randomization held icon" descr="preencoded.png">    </p:cNvPr>
          <p:cNvPicPr>
            <a:picLocks noChangeAspect="1"/>
          </p:cNvPicPr>
          <p:nvPr/>
        </p:nvPicPr>
        <p:blipFill>
          <a:blip r:embed="rId4"/>
          <a:stretch>
            <a:fillRect/>
          </a:stretch>
        </p:blipFill>
        <p:spPr>
          <a:xfrm>
            <a:off x="6732270" y="4537710"/>
            <a:ext cx="388620" cy="388620"/>
          </a:xfrm>
          <a:prstGeom prst="rect">
            <a:avLst/>
          </a:prstGeom>
        </p:spPr>
      </p:pic>
      <p:sp>
        <p:nvSpPr>
          <p:cNvPr id="22" name="Text 16"/>
          <p:cNvSpPr txBox="1"/>
          <p:nvPr/>
        </p:nvSpPr>
        <p:spPr>
          <a:xfrm>
            <a:off x="7589520" y="4325112"/>
            <a:ext cx="3749040" cy="411480"/>
          </a:xfrm>
          <a:prstGeom prst="rect">
            <a:avLst/>
          </a:prstGeom>
          <a:noFill/>
          <a:ln/>
        </p:spPr>
        <p:txBody>
          <a:bodyPr wrap="square" lIns="0" tIns="0" rIns="0" bIns="0" rtlCol="0" anchor="t"/>
          <a:lstStyle/>
          <a:p>
            <a:pPr indent="0" marL="0">
              <a:buNone/>
            </a:pPr>
            <a:r>
              <a:rPr lang="en-US" sz="2000" b="1" dirty="0">
                <a:solidFill>
                  <a:schemeClr val="tx2"/>
                </a:solidFill>
              </a:rPr>
              <a:t>Randomization held</a:t>
            </a:r>
            <a:endParaRPr lang="en-US" sz="2000" dirty="0"/>
          </a:p>
        </p:txBody>
      </p:sp>
      <p:sp>
        <p:nvSpPr>
          <p:cNvPr id="23" name="Text 17"/>
          <p:cNvSpPr txBox="1"/>
          <p:nvPr/>
        </p:nvSpPr>
        <p:spPr>
          <a:xfrm>
            <a:off x="7589520" y="4818888"/>
            <a:ext cx="3749040" cy="1005840"/>
          </a:xfrm>
          <a:prstGeom prst="rect">
            <a:avLst/>
          </a:prstGeom>
          <a:noFill/>
          <a:ln/>
        </p:spPr>
        <p:txBody>
          <a:bodyPr wrap="square" lIns="0" tIns="0" rIns="0" bIns="0" rtlCol="0" anchor="t"/>
          <a:lstStyle/>
          <a:p>
            <a:pPr indent="0" marL="0">
              <a:buNone/>
            </a:pPr>
            <a:r>
              <a:rPr lang="en-US" sz="1500" dirty="0">
                <a:solidFill>
                  <a:schemeClr val="tx1"/>
                </a:solidFill>
              </a:rPr>
              <a:t>49.65% landed in treatment (sample-ratio check p = 0.16), and device and new/returning mix were balanced.</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Metric Type Picks the Test</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indent="0" marL="0">
              <a:buNone/>
            </a:pPr>
            <a:r>
              <a:rPr lang="en-US" sz="1600" i="1" dirty="0">
                <a:solidFill>
                  <a:schemeClr val="accent5"/>
                </a:solidFill>
              </a:rPr>
              <a:t>Each test was chosen by what kind of number the metric is, before looking at results</a:t>
            </a:r>
            <a:endParaRPr lang="en-US" sz="1600" dirty="0"/>
          </a:p>
        </p:txBody>
      </p:sp>
      <p:sp>
        <p:nvSpPr>
          <p:cNvPr id="4" name="Two-proportion z-test card"/>
          <p:cNvSpPr/>
          <p:nvPr/>
        </p:nvSpPr>
        <p:spPr>
          <a:xfrm>
            <a:off x="548640" y="1737360"/>
            <a:ext cx="3547872" cy="3611880"/>
          </a:xfrm>
          <a:prstGeom prst="roundRect">
            <a:avLst>
              <a:gd name="adj" fmla="val 3093"/>
            </a:avLst>
          </a:prstGeom>
          <a:solidFill>
            <a:schemeClr val="bg2"/>
          </a:solidFill>
          <a:ln w="12700">
            <a:solidFill>
              <a:schemeClr val="bg2"/>
            </a:solidFill>
            <a:prstDash val="solid"/>
          </a:ln>
        </p:spPr>
      </p:sp>
      <p:sp>
        <p:nvSpPr>
          <p:cNvPr id="5" name="Two-proportion z-test circle"/>
          <p:cNvSpPr/>
          <p:nvPr/>
        </p:nvSpPr>
        <p:spPr>
          <a:xfrm>
            <a:off x="868680" y="2011680"/>
            <a:ext cx="731520" cy="731520"/>
          </a:xfrm>
          <a:prstGeom prst="ellipse">
            <a:avLst/>
          </a:prstGeom>
          <a:solidFill>
            <a:schemeClr val="accent1"/>
          </a:solidFill>
          <a:ln w="12700">
            <a:solidFill>
              <a:schemeClr val="accent1"/>
            </a:solidFill>
            <a:prstDash val="solid"/>
          </a:ln>
        </p:spPr>
      </p:sp>
      <p:pic>
        <p:nvPicPr>
          <p:cNvPr id="6" name="Two-proportion z-test icon" descr="preencoded.png">    </p:cNvPr>
          <p:cNvPicPr>
            <a:picLocks noChangeAspect="1"/>
          </p:cNvPicPr>
          <p:nvPr/>
        </p:nvPicPr>
        <p:blipFill>
          <a:blip r:embed="rId1"/>
          <a:stretch>
            <a:fillRect/>
          </a:stretch>
        </p:blipFill>
        <p:spPr>
          <a:xfrm>
            <a:off x="1051560" y="2194560"/>
            <a:ext cx="365760" cy="365760"/>
          </a:xfrm>
          <a:prstGeom prst="rect">
            <a:avLst/>
          </a:prstGeom>
        </p:spPr>
      </p:pic>
      <p:sp>
        <p:nvSpPr>
          <p:cNvPr id="7" name="Text 4"/>
          <p:cNvSpPr txBox="1"/>
          <p:nvPr/>
        </p:nvSpPr>
        <p:spPr>
          <a:xfrm>
            <a:off x="868680" y="2926080"/>
            <a:ext cx="2926080" cy="320040"/>
          </a:xfrm>
          <a:prstGeom prst="rect">
            <a:avLst/>
          </a:prstGeom>
          <a:noFill/>
          <a:ln/>
        </p:spPr>
        <p:txBody>
          <a:bodyPr wrap="square" lIns="0" tIns="0" rIns="0" bIns="0" rtlCol="0" anchor="t"/>
          <a:lstStyle/>
          <a:p>
            <a:pPr indent="0" marL="0">
              <a:buNone/>
            </a:pPr>
            <a:r>
              <a:rPr lang="en-US" sz="1200" b="1" spc="100" kern="0" dirty="0">
                <a:solidFill>
                  <a:schemeClr val="accent5"/>
                </a:solidFill>
              </a:rPr>
              <a:t>YES / NO PER VISITOR</a:t>
            </a:r>
            <a:endParaRPr lang="en-US" sz="1200" dirty="0"/>
          </a:p>
        </p:txBody>
      </p:sp>
      <p:sp>
        <p:nvSpPr>
          <p:cNvPr id="8" name="Text 5"/>
          <p:cNvSpPr txBox="1"/>
          <p:nvPr/>
        </p:nvSpPr>
        <p:spPr>
          <a:xfrm>
            <a:off x="868680" y="3246120"/>
            <a:ext cx="29260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Two-proportion z-test</a:t>
            </a:r>
            <a:endParaRPr lang="en-US" sz="2200" dirty="0"/>
          </a:p>
        </p:txBody>
      </p:sp>
      <p:sp>
        <p:nvSpPr>
          <p:cNvPr id="9" name="Text 6"/>
          <p:cNvSpPr txBox="1"/>
          <p:nvPr/>
        </p:nvSpPr>
        <p:spPr>
          <a:xfrm>
            <a:off x="868680" y="3794760"/>
            <a:ext cx="2926080" cy="365760"/>
          </a:xfrm>
          <a:prstGeom prst="rect">
            <a:avLst/>
          </a:prstGeom>
          <a:noFill/>
          <a:ln/>
        </p:spPr>
        <p:txBody>
          <a:bodyPr wrap="square" lIns="0" tIns="0" rIns="0" bIns="0" rtlCol="0" anchor="t"/>
          <a:lstStyle/>
          <a:p>
            <a:pPr indent="0" marL="0">
              <a:buNone/>
            </a:pPr>
            <a:r>
              <a:rPr lang="en-US" sz="1500" b="1" dirty="0">
                <a:solidFill>
                  <a:schemeClr val="tx1"/>
                </a:solidFill>
              </a:rPr>
              <a:t>Used for: conversion</a:t>
            </a:r>
            <a:endParaRPr lang="en-US" sz="1500" dirty="0"/>
          </a:p>
        </p:txBody>
      </p:sp>
      <p:sp>
        <p:nvSpPr>
          <p:cNvPr id="10" name="Text 7"/>
          <p:cNvSpPr txBox="1"/>
          <p:nvPr/>
        </p:nvSpPr>
        <p:spPr>
          <a:xfrm>
            <a:off x="868680" y="4206240"/>
            <a:ext cx="2926080" cy="1005840"/>
          </a:xfrm>
          <a:prstGeom prst="rect">
            <a:avLst/>
          </a:prstGeom>
          <a:noFill/>
          <a:ln/>
        </p:spPr>
        <p:txBody>
          <a:bodyPr wrap="square" lIns="0" tIns="0" rIns="0" bIns="0" rtlCol="0" anchor="t"/>
          <a:lstStyle/>
          <a:p>
            <a:pPr indent="0" marL="0">
              <a:buNone/>
            </a:pPr>
            <a:r>
              <a:rPr lang="en-US" sz="1500" dirty="0">
                <a:solidFill>
                  <a:schemeClr val="tx1"/>
                </a:solidFill>
              </a:rPr>
              <a:t>Gives the same answer as a chi-square test. Switches to Fisher's exact test when counts are tiny.</a:t>
            </a:r>
            <a:endParaRPr lang="en-US" sz="1500" dirty="0"/>
          </a:p>
        </p:txBody>
      </p:sp>
      <p:sp>
        <p:nvSpPr>
          <p:cNvPr id="11" name="Welch's t-test card"/>
          <p:cNvSpPr/>
          <p:nvPr/>
        </p:nvSpPr>
        <p:spPr>
          <a:xfrm>
            <a:off x="4306824" y="1737360"/>
            <a:ext cx="3547872" cy="3611880"/>
          </a:xfrm>
          <a:prstGeom prst="roundRect">
            <a:avLst>
              <a:gd name="adj" fmla="val 3093"/>
            </a:avLst>
          </a:prstGeom>
          <a:solidFill>
            <a:schemeClr val="bg2"/>
          </a:solidFill>
          <a:ln w="12700">
            <a:solidFill>
              <a:schemeClr val="bg2"/>
            </a:solidFill>
            <a:prstDash val="solid"/>
          </a:ln>
        </p:spPr>
      </p:sp>
      <p:sp>
        <p:nvSpPr>
          <p:cNvPr id="12" name="Welch's t-test circle"/>
          <p:cNvSpPr/>
          <p:nvPr/>
        </p:nvSpPr>
        <p:spPr>
          <a:xfrm>
            <a:off x="4626864" y="2011680"/>
            <a:ext cx="731520" cy="731520"/>
          </a:xfrm>
          <a:prstGeom prst="ellipse">
            <a:avLst/>
          </a:prstGeom>
          <a:solidFill>
            <a:schemeClr val="accent1"/>
          </a:solidFill>
          <a:ln w="12700">
            <a:solidFill>
              <a:schemeClr val="accent1"/>
            </a:solidFill>
            <a:prstDash val="solid"/>
          </a:ln>
        </p:spPr>
      </p:sp>
      <p:pic>
        <p:nvPicPr>
          <p:cNvPr id="13" name="Welch's t-test icon" descr="preencoded.png">    </p:cNvPr>
          <p:cNvPicPr>
            <a:picLocks noChangeAspect="1"/>
          </p:cNvPicPr>
          <p:nvPr/>
        </p:nvPicPr>
        <p:blipFill>
          <a:blip r:embed="rId2"/>
          <a:stretch>
            <a:fillRect/>
          </a:stretch>
        </p:blipFill>
        <p:spPr>
          <a:xfrm>
            <a:off x="4809744" y="2194560"/>
            <a:ext cx="365760" cy="365760"/>
          </a:xfrm>
          <a:prstGeom prst="rect">
            <a:avLst/>
          </a:prstGeom>
        </p:spPr>
      </p:pic>
      <p:sp>
        <p:nvSpPr>
          <p:cNvPr id="14" name="Text 10"/>
          <p:cNvSpPr txBox="1"/>
          <p:nvPr/>
        </p:nvSpPr>
        <p:spPr>
          <a:xfrm>
            <a:off x="4626864" y="2926080"/>
            <a:ext cx="2926080" cy="320040"/>
          </a:xfrm>
          <a:prstGeom prst="rect">
            <a:avLst/>
          </a:prstGeom>
          <a:noFill/>
          <a:ln/>
        </p:spPr>
        <p:txBody>
          <a:bodyPr wrap="square" lIns="0" tIns="0" rIns="0" bIns="0" rtlCol="0" anchor="t"/>
          <a:lstStyle/>
          <a:p>
            <a:pPr indent="0" marL="0">
              <a:buNone/>
            </a:pPr>
            <a:r>
              <a:rPr lang="en-US" sz="1200" b="1" spc="100" kern="0" dirty="0">
                <a:solidFill>
                  <a:schemeClr val="accent5"/>
                </a:solidFill>
              </a:rPr>
              <a:t>DOLLAR AMOUNT, LARGE SAMPLE</a:t>
            </a:r>
            <a:endParaRPr lang="en-US" sz="1200" dirty="0"/>
          </a:p>
        </p:txBody>
      </p:sp>
      <p:sp>
        <p:nvSpPr>
          <p:cNvPr id="15" name="Text 11"/>
          <p:cNvSpPr txBox="1"/>
          <p:nvPr/>
        </p:nvSpPr>
        <p:spPr>
          <a:xfrm>
            <a:off x="4626864" y="3246120"/>
            <a:ext cx="29260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Welch's t-test</a:t>
            </a:r>
            <a:endParaRPr lang="en-US" sz="2200" dirty="0"/>
          </a:p>
        </p:txBody>
      </p:sp>
      <p:sp>
        <p:nvSpPr>
          <p:cNvPr id="16" name="Text 12"/>
          <p:cNvSpPr txBox="1"/>
          <p:nvPr/>
        </p:nvSpPr>
        <p:spPr>
          <a:xfrm>
            <a:off x="4626864" y="3794760"/>
            <a:ext cx="2926080" cy="365760"/>
          </a:xfrm>
          <a:prstGeom prst="rect">
            <a:avLst/>
          </a:prstGeom>
          <a:noFill/>
          <a:ln/>
        </p:spPr>
        <p:txBody>
          <a:bodyPr wrap="square" lIns="0" tIns="0" rIns="0" bIns="0" rtlCol="0" anchor="t"/>
          <a:lstStyle/>
          <a:p>
            <a:pPr indent="0" marL="0">
              <a:buNone/>
            </a:pPr>
            <a:r>
              <a:rPr lang="en-US" sz="1500" b="1" dirty="0">
                <a:solidFill>
                  <a:schemeClr val="tx1"/>
                </a:solidFill>
              </a:rPr>
              <a:t>Used for: revenue per visitor</a:t>
            </a:r>
            <a:endParaRPr lang="en-US" sz="1500" dirty="0"/>
          </a:p>
        </p:txBody>
      </p:sp>
      <p:sp>
        <p:nvSpPr>
          <p:cNvPr id="17" name="Text 13"/>
          <p:cNvSpPr txBox="1"/>
          <p:nvPr/>
        </p:nvSpPr>
        <p:spPr>
          <a:xfrm>
            <a:off x="4626864" y="4206240"/>
            <a:ext cx="2926080" cy="1005840"/>
          </a:xfrm>
          <a:prstGeom prst="rect">
            <a:avLst/>
          </a:prstGeom>
          <a:noFill/>
          <a:ln/>
        </p:spPr>
        <p:txBody>
          <a:bodyPr wrap="square" lIns="0" tIns="0" rIns="0" bIns="0" rtlCol="0" anchor="t"/>
          <a:lstStyle/>
          <a:p>
            <a:pPr indent="0" marL="0">
              <a:buNone/>
            </a:pPr>
            <a:r>
              <a:rPr lang="en-US" sz="1500" dirty="0">
                <a:solidFill>
                  <a:schemeClr val="tx1"/>
                </a:solidFill>
              </a:rPr>
              <a:t>Revenue is 95% zeros, but with 19,476 users per group the average behaves normally (needs &gt; 606).</a:t>
            </a:r>
            <a:endParaRPr lang="en-US" sz="1500" dirty="0"/>
          </a:p>
        </p:txBody>
      </p:sp>
      <p:sp>
        <p:nvSpPr>
          <p:cNvPr id="18" name="Mann-Whitney U card"/>
          <p:cNvSpPr/>
          <p:nvPr/>
        </p:nvSpPr>
        <p:spPr>
          <a:xfrm>
            <a:off x="8065008" y="1737360"/>
            <a:ext cx="3547872" cy="3611880"/>
          </a:xfrm>
          <a:prstGeom prst="roundRect">
            <a:avLst>
              <a:gd name="adj" fmla="val 3093"/>
            </a:avLst>
          </a:prstGeom>
          <a:solidFill>
            <a:schemeClr val="bg1"/>
          </a:solidFill>
          <a:ln w="25400">
            <a:solidFill>
              <a:schemeClr val="accent6"/>
            </a:solidFill>
            <a:prstDash val="solid"/>
          </a:ln>
        </p:spPr>
      </p:sp>
      <p:sp>
        <p:nvSpPr>
          <p:cNvPr id="19" name="Mann-Whitney U circle"/>
          <p:cNvSpPr/>
          <p:nvPr/>
        </p:nvSpPr>
        <p:spPr>
          <a:xfrm>
            <a:off x="8385048" y="2011680"/>
            <a:ext cx="731520" cy="731520"/>
          </a:xfrm>
          <a:prstGeom prst="ellipse">
            <a:avLst/>
          </a:prstGeom>
          <a:solidFill>
            <a:schemeClr val="accent1"/>
          </a:solidFill>
          <a:ln w="12700">
            <a:solidFill>
              <a:schemeClr val="accent1"/>
            </a:solidFill>
            <a:prstDash val="solid"/>
          </a:ln>
        </p:spPr>
      </p:sp>
      <p:pic>
        <p:nvPicPr>
          <p:cNvPr id="20" name="Mann-Whitney U icon" descr="preencoded.png">    </p:cNvPr>
          <p:cNvPicPr>
            <a:picLocks noChangeAspect="1"/>
          </p:cNvPicPr>
          <p:nvPr/>
        </p:nvPicPr>
        <p:blipFill>
          <a:blip r:embed="rId3"/>
          <a:stretch>
            <a:fillRect/>
          </a:stretch>
        </p:blipFill>
        <p:spPr>
          <a:xfrm>
            <a:off x="8567928" y="2194560"/>
            <a:ext cx="365760" cy="365760"/>
          </a:xfrm>
          <a:prstGeom prst="rect">
            <a:avLst/>
          </a:prstGeom>
        </p:spPr>
      </p:pic>
      <p:sp>
        <p:nvSpPr>
          <p:cNvPr id="21" name="Text 16"/>
          <p:cNvSpPr txBox="1"/>
          <p:nvPr/>
        </p:nvSpPr>
        <p:spPr>
          <a:xfrm>
            <a:off x="8385048" y="2926080"/>
            <a:ext cx="2926080" cy="320040"/>
          </a:xfrm>
          <a:prstGeom prst="rect">
            <a:avLst/>
          </a:prstGeom>
          <a:noFill/>
          <a:ln/>
        </p:spPr>
        <p:txBody>
          <a:bodyPr wrap="square" lIns="0" tIns="0" rIns="0" bIns="0" rtlCol="0" anchor="t"/>
          <a:lstStyle/>
          <a:p>
            <a:pPr indent="0" marL="0">
              <a:buNone/>
            </a:pPr>
            <a:r>
              <a:rPr lang="en-US" sz="1200" b="1" spc="100" kern="0" dirty="0">
                <a:solidFill>
                  <a:schemeClr val="accent5"/>
                </a:solidFill>
              </a:rPr>
              <a:t>SMALL SAMPLE OR RATINGS</a:t>
            </a:r>
            <a:endParaRPr lang="en-US" sz="1200" dirty="0"/>
          </a:p>
        </p:txBody>
      </p:sp>
      <p:sp>
        <p:nvSpPr>
          <p:cNvPr id="22" name="Text 17"/>
          <p:cNvSpPr txBox="1"/>
          <p:nvPr/>
        </p:nvSpPr>
        <p:spPr>
          <a:xfrm>
            <a:off x="8385048" y="3246120"/>
            <a:ext cx="29260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Mann-Whitney U</a:t>
            </a:r>
            <a:endParaRPr lang="en-US" sz="2200" dirty="0"/>
          </a:p>
        </p:txBody>
      </p:sp>
      <p:sp>
        <p:nvSpPr>
          <p:cNvPr id="23" name="Text 18"/>
          <p:cNvSpPr txBox="1"/>
          <p:nvPr/>
        </p:nvSpPr>
        <p:spPr>
          <a:xfrm>
            <a:off x="8385048" y="3794760"/>
            <a:ext cx="2926080" cy="365760"/>
          </a:xfrm>
          <a:prstGeom prst="rect">
            <a:avLst/>
          </a:prstGeom>
          <a:noFill/>
          <a:ln/>
        </p:spPr>
        <p:txBody>
          <a:bodyPr wrap="square" lIns="0" tIns="0" rIns="0" bIns="0" rtlCol="0" anchor="t"/>
          <a:lstStyle/>
          <a:p>
            <a:pPr indent="0" marL="0">
              <a:buNone/>
            </a:pPr>
            <a:r>
              <a:rPr lang="en-US" sz="1500" b="1" dirty="0">
                <a:solidFill>
                  <a:schemeClr val="tx1"/>
                </a:solidFill>
              </a:rPr>
              <a:t>Used for: robustness check</a:t>
            </a:r>
            <a:endParaRPr lang="en-US" sz="1500" dirty="0"/>
          </a:p>
        </p:txBody>
      </p:sp>
      <p:sp>
        <p:nvSpPr>
          <p:cNvPr id="24" name="Text 19"/>
          <p:cNvSpPr txBox="1"/>
          <p:nvPr/>
        </p:nvSpPr>
        <p:spPr>
          <a:xfrm>
            <a:off x="8385048" y="4206240"/>
            <a:ext cx="2926080" cy="1005840"/>
          </a:xfrm>
          <a:prstGeom prst="rect">
            <a:avLst/>
          </a:prstGeom>
          <a:noFill/>
          <a:ln/>
        </p:spPr>
        <p:txBody>
          <a:bodyPr wrap="square" lIns="0" tIns="0" rIns="0" bIns="0" rtlCol="0" anchor="t"/>
          <a:lstStyle/>
          <a:p>
            <a:pPr indent="0" marL="0">
              <a:buNone/>
            </a:pPr>
            <a:r>
              <a:rPr lang="en-US" sz="1500" dirty="0">
                <a:solidFill>
                  <a:schemeClr val="tx1"/>
                </a:solidFill>
              </a:rPr>
              <a:t>Compares rankings, so outliers can't dominate. The trade-off: it doesn't test the average itself.</a:t>
            </a:r>
            <a:endParaRPr lang="en-US" sz="1500" dirty="0"/>
          </a:p>
        </p:txBody>
      </p:sp>
      <p:sp>
        <p:nvSpPr>
          <p:cNvPr id="25" name="Two-tailed note circle"/>
          <p:cNvSpPr/>
          <p:nvPr/>
        </p:nvSpPr>
        <p:spPr>
          <a:xfrm>
            <a:off x="548640" y="5532120"/>
            <a:ext cx="457200" cy="457200"/>
          </a:xfrm>
          <a:prstGeom prst="ellipse">
            <a:avLst/>
          </a:prstGeom>
          <a:solidFill>
            <a:schemeClr val="accent2"/>
          </a:solidFill>
          <a:ln w="12700">
            <a:solidFill>
              <a:schemeClr val="accent2"/>
            </a:solidFill>
            <a:prstDash val="solid"/>
          </a:ln>
        </p:spPr>
      </p:sp>
      <p:pic>
        <p:nvPicPr>
          <p:cNvPr id="26" name="Two-tailed note icon" descr="preencoded.png">    </p:cNvPr>
          <p:cNvPicPr>
            <a:picLocks noChangeAspect="1"/>
          </p:cNvPicPr>
          <p:nvPr/>
        </p:nvPicPr>
        <p:blipFill>
          <a:blip r:embed="rId4"/>
          <a:stretch>
            <a:fillRect/>
          </a:stretch>
        </p:blipFill>
        <p:spPr>
          <a:xfrm>
            <a:off x="662940" y="5646420"/>
            <a:ext cx="228600" cy="228600"/>
          </a:xfrm>
          <a:prstGeom prst="rect">
            <a:avLst/>
          </a:prstGeom>
        </p:spPr>
      </p:pic>
      <p:sp>
        <p:nvSpPr>
          <p:cNvPr id="27" name="Text 21"/>
          <p:cNvSpPr txBox="1"/>
          <p:nvPr/>
        </p:nvSpPr>
        <p:spPr>
          <a:xfrm>
            <a:off x="1188720" y="5532120"/>
            <a:ext cx="10424160" cy="457200"/>
          </a:xfrm>
          <a:prstGeom prst="rect">
            <a:avLst/>
          </a:prstGeom>
          <a:noFill/>
          <a:ln/>
        </p:spPr>
        <p:txBody>
          <a:bodyPr wrap="square" lIns="0" tIns="0" rIns="0" bIns="0" rtlCol="0" anchor="ctr"/>
          <a:lstStyle/>
          <a:p>
            <a:pPr indent="0" marL="0">
              <a:buNone/>
            </a:pPr>
            <a:r>
              <a:rPr lang="en-US" sz="1500" dirty="0">
                <a:solidFill>
                  <a:schemeClr val="tx1"/>
                </a:solidFill>
              </a:rPr>
              <a:t>All tests are two-tailed at a 5% significance level: a price change can hurt as easily as help.</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Real Effect, Overstated Size</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indent="0" marL="0">
              <a:buNone/>
            </a:pPr>
            <a:r>
              <a:rPr lang="en-US" sz="1600" i="1" dirty="0">
                <a:solidFill>
                  <a:schemeClr val="accent5"/>
                </a:solidFill>
              </a:rPr>
              <a:t>The test had only a 59% chance of catching the 10% target, so +17% is likely too high</a:t>
            </a:r>
            <a:endParaRPr lang="en-US" sz="1600" dirty="0"/>
          </a:p>
        </p:txBody>
      </p:sp>
      <p:graphicFrame>
        <p:nvGraphicFramePr>
          <p:cNvPr id="4" name="Power curves chart" descr=""/>
          <p:cNvGraphicFramePr/>
          <p:nvPr/>
        </p:nvGraphicFramePr>
        <p:xfrm>
          <a:off x="548640" y="1645920"/>
          <a:ext cx="6858000" cy="4343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18120" y="1737360"/>
            <a:ext cx="3840480" cy="566928"/>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59%</a:t>
            </a:r>
            <a:endParaRPr lang="en-US" sz="3200" dirty="0"/>
          </a:p>
        </p:txBody>
      </p:sp>
      <p:sp>
        <p:nvSpPr>
          <p:cNvPr id="6" name="Text 3"/>
          <p:cNvSpPr txBox="1"/>
          <p:nvPr/>
        </p:nvSpPr>
        <p:spPr>
          <a:xfrm>
            <a:off x="7818120" y="2304288"/>
            <a:ext cx="3840480" cy="640080"/>
          </a:xfrm>
          <a:prstGeom prst="rect">
            <a:avLst/>
          </a:prstGeom>
          <a:noFill/>
          <a:ln/>
        </p:spPr>
        <p:txBody>
          <a:bodyPr wrap="square" lIns="0" tIns="0" rIns="0" bIns="0" rtlCol="0" anchor="t"/>
          <a:lstStyle/>
          <a:p>
            <a:pPr indent="0" marL="0">
              <a:buNone/>
            </a:pPr>
            <a:r>
              <a:rPr lang="en-US" sz="1400" dirty="0">
                <a:solidFill>
                  <a:schemeClr val="tx1"/>
                </a:solidFill>
              </a:rPr>
              <a:t>chance this test would detect a real 10% lift (target: 80%)</a:t>
            </a:r>
            <a:endParaRPr lang="en-US" sz="1400" dirty="0"/>
          </a:p>
        </p:txBody>
      </p:sp>
      <p:sp>
        <p:nvSpPr>
          <p:cNvPr id="7" name="Text 4"/>
          <p:cNvSpPr txBox="1"/>
          <p:nvPr/>
        </p:nvSpPr>
        <p:spPr>
          <a:xfrm>
            <a:off x="7818120" y="3035808"/>
            <a:ext cx="3840480" cy="566928"/>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32,130</a:t>
            </a:r>
            <a:endParaRPr lang="en-US" sz="3200" dirty="0"/>
          </a:p>
        </p:txBody>
      </p:sp>
      <p:sp>
        <p:nvSpPr>
          <p:cNvPr id="8" name="Text 5"/>
          <p:cNvSpPr txBox="1"/>
          <p:nvPr/>
        </p:nvSpPr>
        <p:spPr>
          <a:xfrm>
            <a:off x="7818120" y="3602736"/>
            <a:ext cx="3840480" cy="640080"/>
          </a:xfrm>
          <a:prstGeom prst="rect">
            <a:avLst/>
          </a:prstGeom>
          <a:noFill/>
          <a:ln/>
        </p:spPr>
        <p:txBody>
          <a:bodyPr wrap="square" lIns="0" tIns="0" rIns="0" bIns="0" rtlCol="0" anchor="t"/>
          <a:lstStyle/>
          <a:p>
            <a:pPr indent="0" marL="0">
              <a:buNone/>
            </a:pPr>
            <a:r>
              <a:rPr lang="en-US" sz="1400" dirty="0">
                <a:solidFill>
                  <a:schemeClr val="tx1"/>
                </a:solidFill>
              </a:rPr>
              <a:t>visitors per group needed, about 23 days; we had 19,752</a:t>
            </a:r>
            <a:endParaRPr lang="en-US" sz="1400" dirty="0"/>
          </a:p>
        </p:txBody>
      </p:sp>
      <p:sp>
        <p:nvSpPr>
          <p:cNvPr id="9" name="Text 6"/>
          <p:cNvSpPr txBox="1"/>
          <p:nvPr/>
        </p:nvSpPr>
        <p:spPr>
          <a:xfrm>
            <a:off x="7818120" y="4334256"/>
            <a:ext cx="3840480" cy="566928"/>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~1.3×</a:t>
            </a:r>
            <a:endParaRPr lang="en-US" sz="3200" dirty="0"/>
          </a:p>
        </p:txBody>
      </p:sp>
      <p:sp>
        <p:nvSpPr>
          <p:cNvPr id="10" name="Text 7"/>
          <p:cNvSpPr txBox="1"/>
          <p:nvPr/>
        </p:nvSpPr>
        <p:spPr>
          <a:xfrm>
            <a:off x="7818120" y="4901184"/>
            <a:ext cx="3840480" cy="640080"/>
          </a:xfrm>
          <a:prstGeom prst="rect">
            <a:avLst/>
          </a:prstGeom>
          <a:noFill/>
          <a:ln/>
        </p:spPr>
        <p:txBody>
          <a:bodyPr wrap="square" lIns="0" tIns="0" rIns="0" bIns="0" rtlCol="0" anchor="t"/>
          <a:lstStyle/>
          <a:p>
            <a:pPr indent="0" marL="0">
              <a:buNone/>
            </a:pPr>
            <a:r>
              <a:rPr lang="en-US" sz="1400" dirty="0">
                <a:solidFill>
                  <a:schemeClr val="tx1"/>
                </a:solidFill>
              </a:rPr>
              <a:t>how much a winning result at this power overstates the true lift (simulated)</a:t>
            </a:r>
            <a:endParaRPr lang="en-US" sz="1400" dirty="0"/>
          </a:p>
        </p:txBody>
      </p:sp>
      <p:sp>
        <p:nvSpPr>
          <p:cNvPr id="11" name="Text 8"/>
          <p:cNvSpPr txBox="1"/>
          <p:nvPr/>
        </p:nvSpPr>
        <p:spPr>
          <a:xfrm>
            <a:off x="7818120" y="5669280"/>
            <a:ext cx="3840480" cy="457200"/>
          </a:xfrm>
          <a:prstGeom prst="rect">
            <a:avLst/>
          </a:prstGeom>
          <a:noFill/>
          <a:ln/>
        </p:spPr>
        <p:txBody>
          <a:bodyPr wrap="square" lIns="0" tIns="0" rIns="0" bIns="0" rtlCol="0" anchor="t"/>
          <a:lstStyle/>
          <a:p>
            <a:pPr indent="0" marL="0">
              <a:buNone/>
            </a:pPr>
            <a:r>
              <a:rPr lang="en-US" sz="1400" b="1" dirty="0">
                <a:solidFill>
                  <a:schemeClr val="accent5"/>
                </a:solidFill>
              </a:rPr>
              <a:t>The 95% range's low end (+7.7%) sits below the 10% bar.</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Launch-Week Bump Is Fading</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indent="0" marL="0">
              <a:buNone/>
            </a:pPr>
            <a:r>
              <a:rPr lang="en-US" sz="1600" i="1" dirty="0">
                <a:solidFill>
                  <a:schemeClr val="accent5"/>
                </a:solidFill>
              </a:rPr>
              <a:t>The new display's pull weakened as visitors got used to it</a:t>
            </a:r>
            <a:endParaRPr lang="en-US" sz="1600" dirty="0"/>
          </a:p>
        </p:txBody>
      </p:sp>
      <p:graphicFrame>
        <p:nvGraphicFramePr>
          <p:cNvPr id="4" name="Weekly lift chart" descr=""/>
          <p:cNvGraphicFramePr/>
          <p:nvPr/>
        </p:nvGraphicFramePr>
        <p:xfrm>
          <a:off x="548640" y="1645920"/>
          <a:ext cx="6675120" cy="4343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783080"/>
            <a:ext cx="3931920" cy="64008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−45%</a:t>
            </a:r>
            <a:endParaRPr lang="en-US" sz="4000" dirty="0"/>
          </a:p>
        </p:txBody>
      </p:sp>
      <p:sp>
        <p:nvSpPr>
          <p:cNvPr id="6" name="Text 3"/>
          <p:cNvSpPr txBox="1"/>
          <p:nvPr/>
        </p:nvSpPr>
        <p:spPr>
          <a:xfrm>
            <a:off x="7680960" y="2468880"/>
            <a:ext cx="3931920" cy="1097280"/>
          </a:xfrm>
          <a:prstGeom prst="rect">
            <a:avLst/>
          </a:prstGeom>
          <a:noFill/>
          <a:ln/>
        </p:spPr>
        <p:txBody>
          <a:bodyPr wrap="square" lIns="0" tIns="0" rIns="0" bIns="0" rtlCol="0" anchor="t"/>
          <a:lstStyle/>
          <a:p>
            <a:pPr indent="0" marL="0">
              <a:buNone/>
            </a:pPr>
            <a:r>
              <a:rPr lang="en-US" sz="1500" dirty="0">
                <a:solidFill>
                  <a:schemeClr val="tx1"/>
                </a:solidFill>
              </a:rPr>
              <a:t>drop in the plan-selection lift from week 1 to week 2. A statistical test confirms the decline is real (p = 0.0002).</a:t>
            </a:r>
            <a:endParaRPr lang="en-US" sz="1500" dirty="0"/>
          </a:p>
        </p:txBody>
      </p:sp>
      <p:sp>
        <p:nvSpPr>
          <p:cNvPr id="7" name="Text 4"/>
          <p:cNvSpPr txBox="1"/>
          <p:nvPr/>
        </p:nvSpPr>
        <p:spPr>
          <a:xfrm>
            <a:off x="7680960" y="3794760"/>
            <a:ext cx="3931920" cy="64008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+12%</a:t>
            </a:r>
            <a:endParaRPr lang="en-US" sz="4000" dirty="0"/>
          </a:p>
        </p:txBody>
      </p:sp>
      <p:sp>
        <p:nvSpPr>
          <p:cNvPr id="8" name="Text 5"/>
          <p:cNvSpPr txBox="1"/>
          <p:nvPr/>
        </p:nvSpPr>
        <p:spPr>
          <a:xfrm>
            <a:off x="7680960" y="4480560"/>
            <a:ext cx="3931920" cy="1097280"/>
          </a:xfrm>
          <a:prstGeom prst="rect">
            <a:avLst/>
          </a:prstGeom>
          <a:noFill/>
          <a:ln/>
        </p:spPr>
        <p:txBody>
          <a:bodyPr wrap="square" lIns="0" tIns="0" rIns="0" bIns="0" rtlCol="0" anchor="t"/>
          <a:lstStyle/>
          <a:p>
            <a:pPr indent="0" marL="0">
              <a:buNone/>
            </a:pPr>
            <a:r>
              <a:rPr lang="en-US" sz="1500" dirty="0">
                <a:solidFill>
                  <a:schemeClr val="tx1"/>
                </a:solidFill>
              </a:rPr>
              <a:t>week-2 lift in first orders: a better guide to the long-term effect than the 2-week average of +17%.</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Win Comes From Plan Selection</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indent="0" marL="0">
              <a:buNone/>
            </a:pPr>
            <a:r>
              <a:rPr lang="en-US" sz="1600" i="1" dirty="0">
                <a:solidFill>
                  <a:schemeClr val="accent5"/>
                </a:solidFill>
              </a:rPr>
              <a:t>More visitors choose a plan, but about a quarter of that gain leaks at checkout</a:t>
            </a:r>
            <a:endParaRPr lang="en-US" sz="1600" dirty="0"/>
          </a:p>
        </p:txBody>
      </p:sp>
      <p:graphicFrame>
        <p:nvGraphicFramePr>
          <p:cNvPr id="4" name="Funnel chart" descr=""/>
          <p:cNvGraphicFramePr/>
          <p:nvPr/>
        </p:nvGraphicFramePr>
        <p:xfrm>
          <a:off x="548640" y="1645920"/>
          <a:ext cx="6400800" cy="4343400"/>
        </p:xfrm>
        <a:graphic xmlns:a="http://schemas.openxmlformats.org/drawingml/2006/main">
          <a:graphicData uri="http://schemas.openxmlformats.org/drawingml/2006/chart">
            <c:chart xmlns:c="http://schemas.openxmlformats.org/drawingml/2006/chart" r:id="rId1"/>
          </a:graphicData>
        </a:graphic>
      </p:graphicFrame>
      <p:sp>
        <p:nvSpPr>
          <p:cNvPr id="5" name="Visit → chose a plan circle"/>
          <p:cNvSpPr/>
          <p:nvPr/>
        </p:nvSpPr>
        <p:spPr>
          <a:xfrm>
            <a:off x="7315200" y="1764792"/>
            <a:ext cx="548640" cy="548640"/>
          </a:xfrm>
          <a:prstGeom prst="ellipse">
            <a:avLst/>
          </a:prstGeom>
          <a:solidFill>
            <a:schemeClr val="accent1"/>
          </a:solidFill>
          <a:ln w="12700">
            <a:solidFill>
              <a:schemeClr val="accent1"/>
            </a:solidFill>
            <a:prstDash val="solid"/>
          </a:ln>
        </p:spPr>
      </p:sp>
      <p:pic>
        <p:nvPicPr>
          <p:cNvPr id="6" name="Visit → chose a plan icon" descr="preencoded.png">    </p:cNvPr>
          <p:cNvPicPr>
            <a:picLocks noChangeAspect="1"/>
          </p:cNvPicPr>
          <p:nvPr/>
        </p:nvPicPr>
        <p:blipFill>
          <a:blip r:embed="rId2"/>
          <a:stretch>
            <a:fillRect/>
          </a:stretch>
        </p:blipFill>
        <p:spPr>
          <a:xfrm>
            <a:off x="7452360" y="1901952"/>
            <a:ext cx="274320" cy="274320"/>
          </a:xfrm>
          <a:prstGeom prst="rect">
            <a:avLst/>
          </a:prstGeom>
        </p:spPr>
      </p:pic>
      <p:sp>
        <p:nvSpPr>
          <p:cNvPr id="7" name="Text 3"/>
          <p:cNvSpPr txBox="1"/>
          <p:nvPr/>
        </p:nvSpPr>
        <p:spPr>
          <a:xfrm>
            <a:off x="8046720" y="1691640"/>
            <a:ext cx="3611880" cy="411480"/>
          </a:xfrm>
          <a:prstGeom prst="rect">
            <a:avLst/>
          </a:prstGeom>
          <a:noFill/>
          <a:ln/>
        </p:spPr>
        <p:txBody>
          <a:bodyPr wrap="square" lIns="0" tIns="0" rIns="0" bIns="0" rtlCol="0" anchor="t"/>
          <a:lstStyle/>
          <a:p>
            <a:pPr indent="0" marL="0">
              <a:buNone/>
            </a:pPr>
            <a:r>
              <a:rPr lang="en-US" sz="2000" b="1" dirty="0">
                <a:solidFill>
                  <a:schemeClr val="tx1"/>
                </a:solidFill>
              </a:rPr>
              <a:t>+25.0%  </a:t>
            </a:r>
            <a:pPr indent="0" marL="0">
              <a:buNone/>
            </a:pPr>
            <a:r>
              <a:rPr lang="en-US" sz="1500" b="1" dirty="0">
                <a:solidFill>
                  <a:schemeClr val="tx1"/>
                </a:solidFill>
              </a:rPr>
              <a:t>Visit → chose a plan</a:t>
            </a:r>
            <a:endParaRPr lang="en-US" sz="2000" dirty="0"/>
          </a:p>
        </p:txBody>
      </p:sp>
      <p:sp>
        <p:nvSpPr>
          <p:cNvPr id="8" name="Text 4"/>
          <p:cNvSpPr txBox="1"/>
          <p:nvPr/>
        </p:nvSpPr>
        <p:spPr>
          <a:xfrm>
            <a:off x="8046720" y="2103120"/>
            <a:ext cx="3611880" cy="548640"/>
          </a:xfrm>
          <a:prstGeom prst="rect">
            <a:avLst/>
          </a:prstGeom>
          <a:noFill/>
          <a:ln/>
        </p:spPr>
        <p:txBody>
          <a:bodyPr wrap="square" lIns="0" tIns="0" rIns="0" bIns="0" rtlCol="0" anchor="t"/>
          <a:lstStyle/>
          <a:p>
            <a:pPr indent="0" marL="0">
              <a:buNone/>
            </a:pPr>
            <a:r>
              <a:rPr lang="en-US" sz="1400" dirty="0">
                <a:solidFill>
                  <a:schemeClr val="accent5"/>
                </a:solidFill>
              </a:rPr>
              <a:t>Biggest impact, and clearly real</a:t>
            </a:r>
            <a:endParaRPr lang="en-US" sz="1400" dirty="0"/>
          </a:p>
        </p:txBody>
      </p:sp>
      <p:sp>
        <p:nvSpPr>
          <p:cNvPr id="9" name="Chose a plan → checkout circle"/>
          <p:cNvSpPr/>
          <p:nvPr/>
        </p:nvSpPr>
        <p:spPr>
          <a:xfrm>
            <a:off x="7315200" y="2843784"/>
            <a:ext cx="548640" cy="548640"/>
          </a:xfrm>
          <a:prstGeom prst="ellipse">
            <a:avLst/>
          </a:prstGeom>
          <a:solidFill>
            <a:schemeClr val="accent3"/>
          </a:solidFill>
          <a:ln w="12700">
            <a:solidFill>
              <a:schemeClr val="accent3"/>
            </a:solidFill>
            <a:prstDash val="solid"/>
          </a:ln>
        </p:spPr>
      </p:sp>
      <p:pic>
        <p:nvPicPr>
          <p:cNvPr id="10" name="Chose a plan → checkout icon" descr="preencoded.png">    </p:cNvPr>
          <p:cNvPicPr>
            <a:picLocks noChangeAspect="1"/>
          </p:cNvPicPr>
          <p:nvPr/>
        </p:nvPicPr>
        <p:blipFill>
          <a:blip r:embed="rId3"/>
          <a:stretch>
            <a:fillRect/>
          </a:stretch>
        </p:blipFill>
        <p:spPr>
          <a:xfrm>
            <a:off x="7452360" y="2980944"/>
            <a:ext cx="274320" cy="274320"/>
          </a:xfrm>
          <a:prstGeom prst="rect">
            <a:avLst/>
          </a:prstGeom>
        </p:spPr>
      </p:pic>
      <p:sp>
        <p:nvSpPr>
          <p:cNvPr id="11" name="Text 6"/>
          <p:cNvSpPr txBox="1"/>
          <p:nvPr/>
        </p:nvSpPr>
        <p:spPr>
          <a:xfrm>
            <a:off x="8046720" y="2770632"/>
            <a:ext cx="3611880" cy="411480"/>
          </a:xfrm>
          <a:prstGeom prst="rect">
            <a:avLst/>
          </a:prstGeom>
          <a:noFill/>
          <a:ln/>
        </p:spPr>
        <p:txBody>
          <a:bodyPr wrap="square" lIns="0" tIns="0" rIns="0" bIns="0" rtlCol="0" anchor="t"/>
          <a:lstStyle/>
          <a:p>
            <a:pPr indent="0" marL="0">
              <a:buNone/>
            </a:pPr>
            <a:r>
              <a:rPr lang="en-US" sz="2000" b="1" dirty="0">
                <a:solidFill>
                  <a:schemeClr val="tx1"/>
                </a:solidFill>
              </a:rPr>
              <a:t>−4.9%  </a:t>
            </a:r>
            <a:pPr indent="0" marL="0">
              <a:buNone/>
            </a:pPr>
            <a:r>
              <a:rPr lang="en-US" sz="1500" b="1" dirty="0">
                <a:solidFill>
                  <a:schemeClr val="tx1"/>
                </a:solidFill>
              </a:rPr>
              <a:t>Chose a plan → checkout</a:t>
            </a:r>
            <a:endParaRPr lang="en-US" sz="2000" dirty="0"/>
          </a:p>
        </p:txBody>
      </p:sp>
      <p:sp>
        <p:nvSpPr>
          <p:cNvPr id="12" name="Text 7"/>
          <p:cNvSpPr txBox="1"/>
          <p:nvPr/>
        </p:nvSpPr>
        <p:spPr>
          <a:xfrm>
            <a:off x="8046720" y="3182112"/>
            <a:ext cx="3611880" cy="548640"/>
          </a:xfrm>
          <a:prstGeom prst="rect">
            <a:avLst/>
          </a:prstGeom>
          <a:noFill/>
          <a:ln/>
        </p:spPr>
        <p:txBody>
          <a:bodyPr wrap="square" lIns="0" tIns="0" rIns="0" bIns="0" rtlCol="0" anchor="t"/>
          <a:lstStyle/>
          <a:p>
            <a:pPr indent="0" marL="0">
              <a:buNone/>
            </a:pPr>
            <a:r>
              <a:rPr lang="en-US" sz="1400" dirty="0">
                <a:solidFill>
                  <a:schemeClr val="accent5"/>
                </a:solidFill>
              </a:rPr>
              <a:t>Real drop: sticker shock when the weekly total appears</a:t>
            </a:r>
            <a:endParaRPr lang="en-US" sz="1400" dirty="0"/>
          </a:p>
        </p:txBody>
      </p:sp>
      <p:sp>
        <p:nvSpPr>
          <p:cNvPr id="13" name="Checkout → order circle"/>
          <p:cNvSpPr/>
          <p:nvPr/>
        </p:nvSpPr>
        <p:spPr>
          <a:xfrm>
            <a:off x="7315200" y="3922776"/>
            <a:ext cx="548640" cy="548640"/>
          </a:xfrm>
          <a:prstGeom prst="ellipse">
            <a:avLst/>
          </a:prstGeom>
          <a:solidFill>
            <a:schemeClr val="accent4"/>
          </a:solidFill>
          <a:ln w="12700">
            <a:solidFill>
              <a:schemeClr val="accent4"/>
            </a:solidFill>
            <a:prstDash val="solid"/>
          </a:ln>
        </p:spPr>
      </p:sp>
      <p:pic>
        <p:nvPicPr>
          <p:cNvPr id="14" name="Checkout → order icon" descr="preencoded.png">    </p:cNvPr>
          <p:cNvPicPr>
            <a:picLocks noChangeAspect="1"/>
          </p:cNvPicPr>
          <p:nvPr/>
        </p:nvPicPr>
        <p:blipFill>
          <a:blip r:embed="rId4"/>
          <a:stretch>
            <a:fillRect/>
          </a:stretch>
        </p:blipFill>
        <p:spPr>
          <a:xfrm>
            <a:off x="7452360" y="4059936"/>
            <a:ext cx="274320" cy="274320"/>
          </a:xfrm>
          <a:prstGeom prst="rect">
            <a:avLst/>
          </a:prstGeom>
        </p:spPr>
      </p:pic>
      <p:sp>
        <p:nvSpPr>
          <p:cNvPr id="15" name="Text 9"/>
          <p:cNvSpPr txBox="1"/>
          <p:nvPr/>
        </p:nvSpPr>
        <p:spPr>
          <a:xfrm>
            <a:off x="8046720" y="3849624"/>
            <a:ext cx="3611880" cy="411480"/>
          </a:xfrm>
          <a:prstGeom prst="rect">
            <a:avLst/>
          </a:prstGeom>
          <a:noFill/>
          <a:ln/>
        </p:spPr>
        <p:txBody>
          <a:bodyPr wrap="square" lIns="0" tIns="0" rIns="0" bIns="0" rtlCol="0" anchor="t"/>
          <a:lstStyle/>
          <a:p>
            <a:pPr indent="0" marL="0">
              <a:buNone/>
            </a:pPr>
            <a:r>
              <a:rPr lang="en-US" sz="2000" b="1" dirty="0">
                <a:solidFill>
                  <a:schemeClr val="tx1"/>
                </a:solidFill>
              </a:rPr>
              <a:t>−1.4%  </a:t>
            </a:r>
            <a:pPr indent="0" marL="0">
              <a:buNone/>
            </a:pPr>
            <a:r>
              <a:rPr lang="en-US" sz="1500" b="1" dirty="0">
                <a:solidFill>
                  <a:schemeClr val="tx1"/>
                </a:solidFill>
              </a:rPr>
              <a:t>Checkout → order</a:t>
            </a:r>
            <a:endParaRPr lang="en-US" sz="2000" dirty="0"/>
          </a:p>
        </p:txBody>
      </p:sp>
      <p:sp>
        <p:nvSpPr>
          <p:cNvPr id="16" name="Text 10"/>
          <p:cNvSpPr txBox="1"/>
          <p:nvPr/>
        </p:nvSpPr>
        <p:spPr>
          <a:xfrm>
            <a:off x="8046720" y="4261104"/>
            <a:ext cx="3611880" cy="548640"/>
          </a:xfrm>
          <a:prstGeom prst="rect">
            <a:avLst/>
          </a:prstGeom>
          <a:noFill/>
          <a:ln/>
        </p:spPr>
        <p:txBody>
          <a:bodyPr wrap="square" lIns="0" tIns="0" rIns="0" bIns="0" rtlCol="0" anchor="t"/>
          <a:lstStyle/>
          <a:p>
            <a:pPr indent="0" marL="0">
              <a:buNone/>
            </a:pPr>
            <a:r>
              <a:rPr lang="en-US" sz="1400" dirty="0">
                <a:solidFill>
                  <a:schemeClr val="accent5"/>
                </a:solidFill>
              </a:rPr>
              <a:t>No real difference</a:t>
            </a:r>
            <a:endParaRPr lang="en-US" sz="1400" dirty="0"/>
          </a:p>
        </p:txBody>
      </p:sp>
      <p:sp>
        <p:nvSpPr>
          <p:cNvPr id="17" name="Leak callout"/>
          <p:cNvSpPr/>
          <p:nvPr/>
        </p:nvSpPr>
        <p:spPr>
          <a:xfrm>
            <a:off x="7315200" y="5029200"/>
            <a:ext cx="4325112" cy="914400"/>
          </a:xfrm>
          <a:prstGeom prst="roundRect">
            <a:avLst>
              <a:gd name="adj" fmla="val 12000"/>
            </a:avLst>
          </a:prstGeom>
          <a:solidFill>
            <a:schemeClr val="bg2"/>
          </a:solidFill>
          <a:ln w="12700">
            <a:solidFill>
              <a:schemeClr val="bg2"/>
            </a:solidFill>
            <a:prstDash val="solid"/>
          </a:ln>
        </p:spPr>
      </p:sp>
      <p:sp>
        <p:nvSpPr>
          <p:cNvPr id="18" name="Text 12"/>
          <p:cNvSpPr txBox="1"/>
          <p:nvPr/>
        </p:nvSpPr>
        <p:spPr>
          <a:xfrm>
            <a:off x="7543800" y="5138928"/>
            <a:ext cx="3931920" cy="685800"/>
          </a:xfrm>
          <a:prstGeom prst="rect">
            <a:avLst/>
          </a:prstGeom>
          <a:noFill/>
          <a:ln/>
        </p:spPr>
        <p:txBody>
          <a:bodyPr wrap="square" lIns="0" tIns="0" rIns="0" bIns="0" rtlCol="0" anchor="t"/>
          <a:lstStyle/>
          <a:p>
            <a:pPr indent="0" marL="0">
              <a:buNone/>
            </a:pPr>
            <a:r>
              <a:rPr lang="en-US" sz="1500" b="1" dirty="0">
                <a:solidFill>
                  <a:schemeClr val="tx1"/>
                </a:solidFill>
              </a:rPr>
              <a:t>26% of the gain is lost at checkout</a:t>
            </a:r>
            <a:endParaRPr lang="en-US" sz="1500" dirty="0"/>
          </a:p>
          <a:p>
            <a:pPr indent="0" marL="0">
              <a:buNone/>
            </a:pPr>
            <a:r>
              <a:rPr lang="en-US" sz="1500" dirty="0">
                <a:solidFill>
                  <a:schemeClr val="tx1"/>
                </a:solidFill>
              </a:rPr>
              <a:t>about 3 orders per 1,000 visitors</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Every Segment Moves the Same Way</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indent="0" marL="0">
              <a:buNone/>
            </a:pPr>
            <a:r>
              <a:rPr lang="en-US" sz="1600" i="1" dirty="0">
                <a:solidFill>
                  <a:schemeClr val="accent5"/>
                </a:solidFill>
              </a:rPr>
              <a:t>All four groups improved; no group differs reliably from another</a:t>
            </a:r>
            <a:endParaRPr lang="en-US" sz="1600" dirty="0"/>
          </a:p>
        </p:txBody>
      </p:sp>
      <p:graphicFrame>
        <p:nvGraphicFramePr>
          <p:cNvPr id="10" name="Segment table"/>
          <p:cNvGraphicFramePr>
            <a:graphicFrameLocks noGrp="1"/>
          </p:cNvGraphicFramePr>
          <p:nvPr>
            <p:extLst>
              <p:ext uri="{D42A27DB-BD31-4B8C-83A1-F6EECF244321}">
                <p14:modId xmlns:p14="http://schemas.microsoft.com/office/powerpoint/2010/main" val="1579011935"/>
              </p:ext>
            </p:extLst>
          </p:nvPr>
        </p:nvGraphicFramePr>
        <p:xfrm>
          <a:off x="548640" y="1783080"/>
          <a:ext cx="6949440" cy="914400"/>
        </p:xfrm>
        <a:graphic>
          <a:graphicData uri="http://schemas.openxmlformats.org/drawingml/2006/table">
            <a:tbl>
              <a:tblPr/>
              <a:tblGrid>
                <a:gridCol w="2103120"/>
                <a:gridCol w="1737360"/>
                <a:gridCol w="1828800"/>
                <a:gridCol w="1280160"/>
              </a:tblGrid>
              <a:tr h="566928">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Segment</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Lift in first orders</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95% range</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Power</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tx2"/>
                    </a:solidFill>
                  </a:tcPr>
                </a:tc>
              </a:tr>
              <a:tr h="56692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Mobile</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1"/>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+21.6%</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+7.8% to +37.1%</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33%</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1"/>
                    </a:solidFill>
                  </a:tcPr>
                </a:tc>
              </a:tr>
              <a:tr h="56692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Desktop</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2"/>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+12.0%</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2"/>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−0.5% to +26.0%</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2"/>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35%</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2"/>
                    </a:solidFill>
                  </a:tcPr>
                </a:tc>
              </a:tr>
              <a:tr h="56692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New visitors</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1"/>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+20.5%</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+8.5% to +33.9%</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41%</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1"/>
                    </a:solidFill>
                  </a:tcPr>
                </a:tc>
              </a:tr>
              <a:tr h="56692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Returning visitors</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2"/>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+10.7%</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2"/>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−3.6% to +27.3%</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2"/>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27%</a:t>
                      </a:r>
                      <a:endParaRPr lang="en-US" sz="1600" dirty="0">
                        <a:latin typeface="Calibri" charset="0"/>
                        <a:ea typeface="Calibri" charset="0"/>
                        <a:cs typeface="Calibri" charset="0"/>
                      </a:endParaRPr>
                    </a:p>
                  </a:txBody>
                  <a:tcPr marL="137160" marR="137160" marT="0" marB="0" anchor="ctr">
                    <a:lnL w="9525" cap="flat" cmpd="sng" algn="ctr">
                      <a:solidFill>
                        <a:srgbClr val="EEF3EA"/>
                      </a:solidFill>
                      <a:prstDash val="solid"/>
                      <a:round/>
                      <a:headEnd type="none" w="med" len="med"/>
                      <a:tailEnd type="none" w="med" len="med"/>
                    </a:lnL>
                    <a:lnR w="9525" cap="flat" cmpd="sng" algn="ctr">
                      <a:solidFill>
                        <a:srgbClr val="EEF3EA"/>
                      </a:solidFill>
                      <a:prstDash val="solid"/>
                      <a:round/>
                      <a:headEnd type="none" w="med" len="med"/>
                      <a:tailEnd type="none" w="med" len="med"/>
                    </a:lnR>
                    <a:lnT w="9525" cap="flat" cmpd="sng" algn="ctr">
                      <a:solidFill>
                        <a:srgbClr val="EEF3EA"/>
                      </a:solidFill>
                      <a:prstDash val="solid"/>
                      <a:round/>
                      <a:headEnd type="none" w="med" len="med"/>
                      <a:tailEnd type="none" w="med" len="med"/>
                    </a:lnT>
                    <a:lnB w="9525" cap="flat" cmpd="sng" algn="ctr">
                      <a:solidFill>
                        <a:srgbClr val="EEF3EA"/>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800600"/>
            <a:ext cx="6949440" cy="548640"/>
          </a:xfrm>
          <a:prstGeom prst="rect">
            <a:avLst/>
          </a:prstGeom>
          <a:noFill/>
          <a:ln/>
        </p:spPr>
        <p:txBody>
          <a:bodyPr wrap="square" lIns="0" tIns="0" rIns="0" bIns="0" rtlCol="0" anchor="t"/>
          <a:lstStyle/>
          <a:p>
            <a:pPr indent="0" marL="0">
              <a:buNone/>
            </a:pPr>
            <a:r>
              <a:rPr lang="en-US" sz="1300" i="1" dirty="0">
                <a:solidFill>
                  <a:schemeClr val="accent4"/>
                </a:solidFill>
              </a:rPr>
              <a:t>Power = chance of catching a real 10% lift within that segment alone (target 80%).</a:t>
            </a:r>
            <a:endParaRPr lang="en-US" sz="1300" dirty="0"/>
          </a:p>
        </p:txBody>
      </p:sp>
      <p:sp>
        <p:nvSpPr>
          <p:cNvPr id="6" name="Segment takeaway card"/>
          <p:cNvSpPr/>
          <p:nvPr/>
        </p:nvSpPr>
        <p:spPr>
          <a:xfrm>
            <a:off x="7909560" y="1783080"/>
            <a:ext cx="3730752" cy="3703320"/>
          </a:xfrm>
          <a:prstGeom prst="roundRect">
            <a:avLst>
              <a:gd name="adj" fmla="val 2963"/>
            </a:avLst>
          </a:prstGeom>
          <a:solidFill>
            <a:schemeClr val="bg2"/>
          </a:solidFill>
          <a:ln w="12700">
            <a:solidFill>
              <a:schemeClr val="bg2"/>
            </a:solidFill>
            <a:prstDash val="solid"/>
          </a:ln>
        </p:spPr>
      </p:sp>
      <p:sp>
        <p:nvSpPr>
          <p:cNvPr id="7" name="Segments circle"/>
          <p:cNvSpPr/>
          <p:nvPr/>
        </p:nvSpPr>
        <p:spPr>
          <a:xfrm>
            <a:off x="8183880" y="2057400"/>
            <a:ext cx="731520" cy="731520"/>
          </a:xfrm>
          <a:prstGeom prst="ellipse">
            <a:avLst/>
          </a:prstGeom>
          <a:solidFill>
            <a:schemeClr val="accent1"/>
          </a:solidFill>
          <a:ln w="12700">
            <a:solidFill>
              <a:schemeClr val="accent1"/>
            </a:solidFill>
            <a:prstDash val="solid"/>
          </a:ln>
        </p:spPr>
      </p:sp>
      <p:pic>
        <p:nvPicPr>
          <p:cNvPr id="8" name="Segments icon" descr="preencoded.png">    </p:cNvPr>
          <p:cNvPicPr>
            <a:picLocks noChangeAspect="1"/>
          </p:cNvPicPr>
          <p:nvPr/>
        </p:nvPicPr>
        <p:blipFill>
          <a:blip r:embed="rId1"/>
          <a:stretch>
            <a:fillRect/>
          </a:stretch>
        </p:blipFill>
        <p:spPr>
          <a:xfrm>
            <a:off x="8366760" y="2240280"/>
            <a:ext cx="365760" cy="365760"/>
          </a:xfrm>
          <a:prstGeom prst="rect">
            <a:avLst/>
          </a:prstGeom>
        </p:spPr>
      </p:pic>
      <p:sp>
        <p:nvSpPr>
          <p:cNvPr id="9" name="Text 5"/>
          <p:cNvSpPr txBox="1"/>
          <p:nvPr/>
        </p:nvSpPr>
        <p:spPr>
          <a:xfrm>
            <a:off x="8183880" y="2971800"/>
            <a:ext cx="3200400" cy="457200"/>
          </a:xfrm>
          <a:prstGeom prst="rect">
            <a:avLst/>
          </a:prstGeom>
          <a:noFill/>
          <a:ln/>
        </p:spPr>
        <p:txBody>
          <a:bodyPr wrap="square" lIns="0" tIns="0" rIns="0" bIns="0" rtlCol="0" anchor="t"/>
          <a:lstStyle/>
          <a:p>
            <a:pPr indent="0" marL="0">
              <a:buNone/>
            </a:pPr>
            <a:r>
              <a:rPr lang="en-US" sz="2000" b="1" dirty="0">
                <a:solidFill>
                  <a:schemeClr val="tx2"/>
                </a:solidFill>
              </a:rPr>
              <a:t>No group stands apart</a:t>
            </a:r>
            <a:endParaRPr lang="en-US" sz="2000" dirty="0"/>
          </a:p>
        </p:txBody>
      </p:sp>
      <p:sp>
        <p:nvSpPr>
          <p:cNvPr id="10" name="Text 6"/>
          <p:cNvSpPr txBox="1"/>
          <p:nvPr/>
        </p:nvSpPr>
        <p:spPr>
          <a:xfrm>
            <a:off x="8183880" y="3520440"/>
            <a:ext cx="3200400" cy="2194560"/>
          </a:xfrm>
          <a:prstGeom prst="rect">
            <a:avLst/>
          </a:prstGeom>
          <a:noFill/>
          <a:ln/>
        </p:spPr>
        <p:txBody>
          <a:bodyPr wrap="square" lIns="0" tIns="0" rIns="0" bIns="0" rtlCol="0" anchor="t"/>
          <a:lstStyle/>
          <a:p>
            <a:pPr indent="0" marL="0">
              <a:buNone/>
            </a:pPr>
            <a:r>
              <a:rPr lang="en-US" sz="1500" dirty="0">
                <a:solidFill>
                  <a:schemeClr val="tx1"/>
                </a:solidFill>
              </a:rPr>
              <a:t>Direct comparisons find no real difference by device (p = 0.37) or new vs. returning (p = 0.36).</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1"/>
                </a:solidFill>
              </a:rPr>
              <a:t>Each group alone is too small to judge, so “not clear” for desktop or returning visitors means too little data, not “no effect”.</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Launch It, and Plan for the Low End</a:t>
            </a:r>
            <a:endParaRPr lang="en-US" sz="3600" dirty="0"/>
          </a:p>
        </p:txBody>
      </p:sp>
      <p:sp>
        <p:nvSpPr>
          <p:cNvPr id="3" name="GO: launch to all visitors card"/>
          <p:cNvSpPr/>
          <p:nvPr/>
        </p:nvSpPr>
        <p:spPr>
          <a:xfrm>
            <a:off x="548640" y="1600200"/>
            <a:ext cx="3547872" cy="3520440"/>
          </a:xfrm>
          <a:prstGeom prst="roundRect">
            <a:avLst>
              <a:gd name="adj" fmla="val 3117"/>
            </a:avLst>
          </a:prstGeom>
          <a:solidFill>
            <a:schemeClr val="accent5"/>
          </a:solidFill>
          <a:ln w="12700">
            <a:solidFill>
              <a:schemeClr val="accent5"/>
            </a:solidFill>
            <a:prstDash val="solid"/>
          </a:ln>
        </p:spPr>
      </p:sp>
      <p:sp>
        <p:nvSpPr>
          <p:cNvPr id="4" name="GO: launch to all visitors circle"/>
          <p:cNvSpPr/>
          <p:nvPr/>
        </p:nvSpPr>
        <p:spPr>
          <a:xfrm>
            <a:off x="868680" y="1920240"/>
            <a:ext cx="822960" cy="822960"/>
          </a:xfrm>
          <a:prstGeom prst="ellipse">
            <a:avLst/>
          </a:prstGeom>
          <a:solidFill>
            <a:schemeClr val="accent2"/>
          </a:solidFill>
          <a:ln w="12700">
            <a:solidFill>
              <a:schemeClr val="accent2"/>
            </a:solidFill>
            <a:prstDash val="solid"/>
          </a:ln>
        </p:spPr>
      </p:sp>
      <p:pic>
        <p:nvPicPr>
          <p:cNvPr id="5" name="GO: launch to all visitors icon" descr="preencoded.png">    </p:cNvPr>
          <p:cNvPicPr>
            <a:picLocks noChangeAspect="1"/>
          </p:cNvPicPr>
          <p:nvPr/>
        </p:nvPicPr>
        <p:blipFill>
          <a:blip r:embed="rId1"/>
          <a:stretch>
            <a:fillRect/>
          </a:stretch>
        </p:blipFill>
        <p:spPr>
          <a:xfrm>
            <a:off x="1074420" y="2125980"/>
            <a:ext cx="411480" cy="411480"/>
          </a:xfrm>
          <a:prstGeom prst="rect">
            <a:avLst/>
          </a:prstGeom>
        </p:spPr>
      </p:pic>
      <p:sp>
        <p:nvSpPr>
          <p:cNvPr id="6" name="Text 3"/>
          <p:cNvSpPr txBox="1"/>
          <p:nvPr/>
        </p:nvSpPr>
        <p:spPr>
          <a:xfrm>
            <a:off x="868680" y="2971800"/>
            <a:ext cx="2926080" cy="77724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GO: launch to all visitors</a:t>
            </a:r>
            <a:endParaRPr lang="en-US" sz="2100" dirty="0"/>
          </a:p>
        </p:txBody>
      </p:sp>
      <p:sp>
        <p:nvSpPr>
          <p:cNvPr id="7" name="Text 4"/>
          <p:cNvSpPr txBox="1"/>
          <p:nvPr/>
        </p:nvSpPr>
        <p:spPr>
          <a:xfrm>
            <a:off x="868680" y="3794760"/>
            <a:ext cx="2926080" cy="1600200"/>
          </a:xfrm>
          <a:prstGeom prst="rect">
            <a:avLst/>
          </a:prstGeom>
          <a:noFill/>
          <a:ln/>
        </p:spPr>
        <p:txBody>
          <a:bodyPr wrap="square" lIns="0" tIns="0" rIns="0" bIns="0" rtlCol="0" anchor="t"/>
          <a:lstStyle/>
          <a:p>
            <a:pPr indent="0" marL="0">
              <a:buNone/>
            </a:pPr>
            <a:r>
              <a:rPr lang="en-US" sz="1600" dirty="0">
                <a:solidFill>
                  <a:schemeClr val="bg1"/>
                </a:solidFill>
              </a:rPr>
              <a:t>More first orders and more revenue, with no harm to any customer group.</a:t>
            </a:r>
            <a:endParaRPr lang="en-US" sz="1600" dirty="0"/>
          </a:p>
        </p:txBody>
      </p:sp>
      <p:sp>
        <p:nvSpPr>
          <p:cNvPr id="8" name="Budget about $0.5M a year card"/>
          <p:cNvSpPr/>
          <p:nvPr/>
        </p:nvSpPr>
        <p:spPr>
          <a:xfrm>
            <a:off x="4306824" y="1600200"/>
            <a:ext cx="3547872" cy="3520440"/>
          </a:xfrm>
          <a:prstGeom prst="roundRect">
            <a:avLst>
              <a:gd name="adj" fmla="val 3117"/>
            </a:avLst>
          </a:prstGeom>
          <a:solidFill>
            <a:schemeClr val="accent5"/>
          </a:solidFill>
          <a:ln w="12700">
            <a:solidFill>
              <a:schemeClr val="accent5"/>
            </a:solidFill>
            <a:prstDash val="solid"/>
          </a:ln>
        </p:spPr>
      </p:sp>
      <p:sp>
        <p:nvSpPr>
          <p:cNvPr id="9" name="Budget about $0.5M a year circle"/>
          <p:cNvSpPr/>
          <p:nvPr/>
        </p:nvSpPr>
        <p:spPr>
          <a:xfrm>
            <a:off x="4626864" y="1920240"/>
            <a:ext cx="822960" cy="822960"/>
          </a:xfrm>
          <a:prstGeom prst="ellipse">
            <a:avLst/>
          </a:prstGeom>
          <a:solidFill>
            <a:schemeClr val="accent2"/>
          </a:solidFill>
          <a:ln w="12700">
            <a:solidFill>
              <a:schemeClr val="accent2"/>
            </a:solidFill>
            <a:prstDash val="solid"/>
          </a:ln>
        </p:spPr>
      </p:sp>
      <p:pic>
        <p:nvPicPr>
          <p:cNvPr id="10" name="Budget about $0.5M a year icon" descr="preencoded.png">    </p:cNvPr>
          <p:cNvPicPr>
            <a:picLocks noChangeAspect="1"/>
          </p:cNvPicPr>
          <p:nvPr/>
        </p:nvPicPr>
        <p:blipFill>
          <a:blip r:embed="rId2"/>
          <a:stretch>
            <a:fillRect/>
          </a:stretch>
        </p:blipFill>
        <p:spPr>
          <a:xfrm>
            <a:off x="4832604" y="2125980"/>
            <a:ext cx="411480" cy="411480"/>
          </a:xfrm>
          <a:prstGeom prst="rect">
            <a:avLst/>
          </a:prstGeom>
        </p:spPr>
      </p:pic>
      <p:sp>
        <p:nvSpPr>
          <p:cNvPr id="11" name="Text 7"/>
          <p:cNvSpPr txBox="1"/>
          <p:nvPr/>
        </p:nvSpPr>
        <p:spPr>
          <a:xfrm>
            <a:off x="4626864" y="2971800"/>
            <a:ext cx="2926080" cy="77724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Budget about $0.5M a year</a:t>
            </a:r>
            <a:endParaRPr lang="en-US" sz="2100" dirty="0"/>
          </a:p>
        </p:txBody>
      </p:sp>
      <p:sp>
        <p:nvSpPr>
          <p:cNvPr id="12" name="Text 8"/>
          <p:cNvSpPr txBox="1"/>
          <p:nvPr/>
        </p:nvSpPr>
        <p:spPr>
          <a:xfrm>
            <a:off x="4626864" y="3794760"/>
            <a:ext cx="2926080" cy="1600200"/>
          </a:xfrm>
          <a:prstGeom prst="rect">
            <a:avLst/>
          </a:prstGeom>
          <a:noFill/>
          <a:ln/>
        </p:spPr>
        <p:txBody>
          <a:bodyPr wrap="square" lIns="0" tIns="0" rIns="0" bIns="0" rtlCol="0" anchor="t"/>
          <a:lstStyle/>
          <a:p>
            <a:pPr indent="0" marL="0">
              <a:buNone/>
            </a:pPr>
            <a:r>
              <a:rPr lang="en-US" sz="1600" dirty="0">
                <a:solidFill>
                  <a:schemeClr val="bg1"/>
                </a:solidFill>
              </a:rPr>
              <a:t>The range is $0.5M–$1.3M in first-box revenue. The gain is fading, so plan on the low end and track orders for the first month.</a:t>
            </a:r>
            <a:endParaRPr lang="en-US" sz="1600" dirty="0"/>
          </a:p>
        </p:txBody>
      </p:sp>
      <p:sp>
        <p:nvSpPr>
          <p:cNvPr id="13" name="Next test: show both prices card"/>
          <p:cNvSpPr/>
          <p:nvPr/>
        </p:nvSpPr>
        <p:spPr>
          <a:xfrm>
            <a:off x="8065008" y="1600200"/>
            <a:ext cx="3547872" cy="3520440"/>
          </a:xfrm>
          <a:prstGeom prst="roundRect">
            <a:avLst>
              <a:gd name="adj" fmla="val 3117"/>
            </a:avLst>
          </a:prstGeom>
          <a:solidFill>
            <a:schemeClr val="accent5"/>
          </a:solidFill>
          <a:ln w="12700">
            <a:solidFill>
              <a:schemeClr val="accent5"/>
            </a:solidFill>
            <a:prstDash val="solid"/>
          </a:ln>
        </p:spPr>
      </p:sp>
      <p:sp>
        <p:nvSpPr>
          <p:cNvPr id="14" name="Next test: show both prices circle"/>
          <p:cNvSpPr/>
          <p:nvPr/>
        </p:nvSpPr>
        <p:spPr>
          <a:xfrm>
            <a:off x="8385048" y="1920240"/>
            <a:ext cx="822960" cy="822960"/>
          </a:xfrm>
          <a:prstGeom prst="ellipse">
            <a:avLst/>
          </a:prstGeom>
          <a:solidFill>
            <a:schemeClr val="accent2"/>
          </a:solidFill>
          <a:ln w="12700">
            <a:solidFill>
              <a:schemeClr val="accent2"/>
            </a:solidFill>
            <a:prstDash val="solid"/>
          </a:ln>
        </p:spPr>
      </p:sp>
      <p:pic>
        <p:nvPicPr>
          <p:cNvPr id="15" name="Next test: show both prices icon" descr="preencoded.png">    </p:cNvPr>
          <p:cNvPicPr>
            <a:picLocks noChangeAspect="1"/>
          </p:cNvPicPr>
          <p:nvPr/>
        </p:nvPicPr>
        <p:blipFill>
          <a:blip r:embed="rId3"/>
          <a:stretch>
            <a:fillRect/>
          </a:stretch>
        </p:blipFill>
        <p:spPr>
          <a:xfrm>
            <a:off x="8590788" y="2125980"/>
            <a:ext cx="411480" cy="411480"/>
          </a:xfrm>
          <a:prstGeom prst="rect">
            <a:avLst/>
          </a:prstGeom>
        </p:spPr>
      </p:pic>
      <p:sp>
        <p:nvSpPr>
          <p:cNvPr id="16" name="Text 11"/>
          <p:cNvSpPr txBox="1"/>
          <p:nvPr/>
        </p:nvSpPr>
        <p:spPr>
          <a:xfrm>
            <a:off x="8385048" y="2971800"/>
            <a:ext cx="2926080" cy="77724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Next test: show both prices</a:t>
            </a:r>
            <a:endParaRPr lang="en-US" sz="2100" dirty="0"/>
          </a:p>
        </p:txBody>
      </p:sp>
      <p:sp>
        <p:nvSpPr>
          <p:cNvPr id="17" name="Text 12"/>
          <p:cNvSpPr txBox="1"/>
          <p:nvPr/>
        </p:nvSpPr>
        <p:spPr>
          <a:xfrm>
            <a:off x="8385048" y="3794760"/>
            <a:ext cx="2926080" cy="1600200"/>
          </a:xfrm>
          <a:prstGeom prst="rect">
            <a:avLst/>
          </a:prstGeom>
          <a:noFill/>
          <a:ln/>
        </p:spPr>
        <p:txBody>
          <a:bodyPr wrap="square" lIns="0" tIns="0" rIns="0" bIns="0" rtlCol="0" anchor="t"/>
          <a:lstStyle/>
          <a:p>
            <a:pPr indent="0" marL="0">
              <a:buNone/>
            </a:pPr>
            <a:r>
              <a:rPr lang="en-US" sz="1600" dirty="0">
                <a:solidFill>
                  <a:schemeClr val="bg1"/>
                </a:solidFill>
              </a:rPr>
              <a:t>Put the weekly total next to the per-serving price to win back the ~3 orders per 1,000 lost at checkout.</a:t>
            </a:r>
            <a:endParaRPr lang="en-US" sz="1600" dirty="0"/>
          </a:p>
        </p:txBody>
      </p:sp>
      <p:sp>
        <p:nvSpPr>
          <p:cNvPr id="18" name="Text 13"/>
          <p:cNvSpPr txBox="1"/>
          <p:nvPr/>
        </p:nvSpPr>
        <p:spPr>
          <a:xfrm>
            <a:off x="548640" y="5440680"/>
            <a:ext cx="10424160" cy="365760"/>
          </a:xfrm>
          <a:prstGeom prst="rect">
            <a:avLst/>
          </a:prstGeom>
          <a:noFill/>
          <a:ln/>
        </p:spPr>
        <p:txBody>
          <a:bodyPr wrap="square" lIns="0" tIns="0" rIns="0" bIns="0" rtlCol="0" anchor="t"/>
          <a:lstStyle/>
          <a:p>
            <a:pPr indent="0" marL="0">
              <a:buNone/>
            </a:pPr>
            <a:r>
              <a:rPr lang="en-US" sz="1400" dirty="0">
                <a:solidFill>
                  <a:schemeClr val="accent2"/>
                </a:solidFill>
              </a:rPr>
              <a:t>Full analysis, notebook and reusable A/B test template:  github.com/ArpitaRaj27/ab-test-framework</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FreshCrate Fresh">
  <a:themeElements>
    <a:clrScheme name="FreshCrate Fresh">
      <a:dk1>
        <a:srgbClr val="1F2A24"/>
      </a:dk1>
      <a:lt1>
        <a:srgbClr val="FFFFFF"/>
      </a:lt1>
      <a:dk2>
        <a:srgbClr val="2C5F2D"/>
      </a:dk2>
      <a:lt2>
        <a:srgbClr val="EEF3EA"/>
      </a:lt2>
      <a:accent1>
        <a:srgbClr val="2C5F2D"/>
      </a:accent1>
      <a:accent2>
        <a:srgbClr val="97BC62"/>
      </a:accent2>
      <a:accent3>
        <a:srgbClr val="E4572E"/>
      </a:accent3>
      <a:accent4>
        <a:srgbClr val="7D8A84"/>
      </a:accent4>
      <a:accent5>
        <a:srgbClr val="4F7350"/>
      </a:accent5>
      <a:accent6>
        <a:srgbClr val="C9D8C0"/>
      </a:accent6>
      <a:hlink>
        <a:srgbClr val="2C5F2D"/>
      </a:hlink>
      <a:folHlink>
        <a:srgbClr val="4F7350"/>
      </a:folHlink>
    </a:clrScheme>
    <a:fontScheme name="FreshCrate Fre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FreshCrate Price-Framing A/B Test</dc:title>
  <dc:subject>PptxGenJS Presentation</dc:subject>
  <dc:creator>Arpita</dc:creator>
  <cp:lastModifiedBy>Arpita</cp:lastModifiedBy>
  <cp:revision>1</cp:revision>
  <dcterms:created xsi:type="dcterms:W3CDTF">2026-10-20T18:51:06Z</dcterms:created>
  <dcterms:modified xsi:type="dcterms:W3CDTF">2026-10-20T18:51:06Z</dcterms:modified>
</cp:coreProperties>
</file>